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</a:defRPr>
            </a:pPr>
            <a:r>
              <a:t>DOCKER: ZERO TO PROFESSIONAL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CCCDD"/>
                </a:solidFill>
              </a:defRPr>
            </a:pPr>
            <a:r>
              <a:t>Complete Deep Dive — From Beginner to Production Engineer</a:t>
            </a:r>
            <a:br/>
            <a:r>
              <a:t>220+ Slides | 50+ Labs | 200+ Interview Questions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0 —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What This Course Teaches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LEVEL 1 — USER LEVEL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Execute any docker run command with full understanding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Understand every flag, option, and parameter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Troubleshoot common container issues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LEVEL 2 — ENGINEER LEVEL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Explain Docker CLI → API → Daemon → Runtime architecture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Design production-grade Dockerfiles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Implement secure networking and storage patterns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Build CI/CD pipelines with image security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LEVEL 3 — INTERNALS LEVEL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Trace container startup: dockerd → containerd → runc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Explain namespaces, cgroups, OverlayFS internals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Understand OCI specifications and container runtimes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Debug Kubernetes runtime issues from Docker knowledge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0 —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Docker Skill Progression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EXPERT (100%)</a:t>
            </a:r>
          </a:p>
          <a:p>
            <a:pPr>
              <a:spcAft>
                <a:spcPts val="400"/>
              </a:spcAft>
              <a:defRPr sz="1400">
                <a:solidFill>
                  <a:srgbClr val="CCCCDD"/>
                </a:solidFill>
              </a:defRPr>
            </a:pPr>
            <a:r>
              <a:t>  ├─ Architecture Design | Platform Engineering | K8s Runtime | Security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SENIOR (80%)</a:t>
            </a:r>
          </a:p>
          <a:p>
            <a:pPr>
              <a:spcAft>
                <a:spcPts val="400"/>
              </a:spcAft>
              <a:defRPr sz="1400">
                <a:solidFill>
                  <a:srgbClr val="CCCCDD"/>
                </a:solidFill>
              </a:defRPr>
            </a:pPr>
            <a:r>
              <a:t>  ├─ Production Operations | CI/CD Design | Multi-Stage Builds</a:t>
            </a:r>
          </a:p>
          <a:p>
            <a:pPr>
              <a:spcAft>
                <a:spcPts val="400"/>
              </a:spcAft>
              <a:defRPr sz="1400">
                <a:solidFill>
                  <a:srgbClr val="CCCCDD"/>
                </a:solidFill>
              </a:defRPr>
            </a:pPr>
            <a:r>
              <a:t>  ├─ Security Hardening | Performance Optimization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INTERMEDIATE (60%)</a:t>
            </a:r>
          </a:p>
          <a:p>
            <a:pPr>
              <a:spcAft>
                <a:spcPts val="400"/>
              </a:spcAft>
              <a:defRPr sz="1400">
                <a:solidFill>
                  <a:srgbClr val="CCCCDD"/>
                </a:solidFill>
              </a:defRPr>
            </a:pPr>
            <a:r>
              <a:t>  ├─ Dockerfile Mastery | Networking &amp; Storage | Compose Patterns</a:t>
            </a:r>
          </a:p>
          <a:p>
            <a:pPr>
              <a:spcAft>
                <a:spcPts val="400"/>
              </a:spcAft>
              <a:defRPr sz="1400">
                <a:solidFill>
                  <a:srgbClr val="CCCCDD"/>
                </a:solidFill>
              </a:defRPr>
            </a:pPr>
            <a:r>
              <a:t>  ├─ Registry Management | BuildKit &amp; Buildx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BEGINNER (30%)</a:t>
            </a:r>
          </a:p>
          <a:p>
            <a:pPr>
              <a:spcAft>
                <a:spcPts val="400"/>
              </a:spcAft>
              <a:defRPr sz="1400">
                <a:solidFill>
                  <a:srgbClr val="CCCCDD"/>
                </a:solidFill>
              </a:defRPr>
            </a:pPr>
            <a:r>
              <a:t>  ├─ CLI Fundamentals | Container Lifecycle | Image Basics</a:t>
            </a:r>
          </a:p>
          <a:p>
            <a:pPr>
              <a:spcAft>
                <a:spcPts val="400"/>
              </a:spcAft>
              <a:defRPr sz="1400">
                <a:solidFill>
                  <a:srgbClr val="CCCCDD"/>
                </a:solidFill>
              </a:defRPr>
            </a:pPr>
            <a:r>
              <a:t>  └─ Basic Dockerfile | Simple Networking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WHAT IS DOCKER?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1 — WHAT IS DOCKER?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What is Docker?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Docker is a platform that enables developers to: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1. PACKAGE applications with all dependencies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2. DISTRIBUTE consistently across environments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3. RUN isolated processes sharing the host kernel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4. MANAGE the full application lifecycle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KEY INSIGHT: Docker automates OS-level virtualization.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is NOT a virtual machine — it leverages Linux kernel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features (namespaces, cgroups) to isolate processes.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1 — WHAT IS DOCKER?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What Docker is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is NOT a VM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No guest OS, no hypervisor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Containers share the host kernel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is NOT just 'lightweight VMs'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Different isolation model entirely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Different performance characteristics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is NOT required for containers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containerd, CRI-O, podman are alternatives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contributed the container standards to the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Open Container Initiative (OCI) — now vendor-neutral.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1 — WHAT IS DOCKER?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D4FF"/>
                </a:solidFill>
              </a:defRPr>
            </a:pPr>
            <a:r>
              <a:t>Containers vs Virtual Machines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11430000" cy="4846320"/>
          </a:xfrm>
          <a:prstGeom prst="roundRect">
            <a:avLst/>
          </a:prstGeom>
          <a:solidFill>
            <a:srgbClr val="0A0A15"/>
          </a:solidFill>
          <a:ln w="127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0FF88"/>
                </a:solidFill>
                <a:latin typeface="Courier New"/>
              </a:defRPr>
            </a:pPr>
            <a:br/>
            <a:r>
              <a:t>    BARE METAL              VIRTUAL MACHINE           CONTAINER</a:t>
            </a:r>
            <a:br/>
            <a:br/>
            <a:r>
              <a:t>    ┌─────────────┐        ┌─────────────┐          ┌─────────────┐</a:t>
            </a:r>
            <a:br/>
            <a:r>
              <a:t>    │   App A     │        │  ┌─────────┐│          │  ┌─────────┐│</a:t>
            </a:r>
            <a:br/>
            <a:r>
              <a:t>    │   App B     │        │  │ GuestOS ││          │  │ App +   ││</a:t>
            </a:r>
            <a:br/>
            <a:r>
              <a:t>    │   App C     │        │  │  App A  ││          │  │ Deps    ││</a:t>
            </a:r>
            <a:br/>
            <a:r>
              <a:t>    │             │        │  └─────────┘│          │  └─────────┘│</a:t>
            </a:r>
            <a:br/>
            <a:r>
              <a:t>    │   Host OS   │        │  ┌─────────┐│          │  ┌─────────┐│</a:t>
            </a:r>
            <a:br/>
            <a:r>
              <a:t>    │             │        │  │ GuestOS ││          │  │ App +   ││</a:t>
            </a:r>
            <a:br/>
            <a:r>
              <a:t>    │             │        │  │  App B  ││          │  │ Deps    ││</a:t>
            </a:r>
            <a:br/>
            <a:r>
              <a:t>    │             │        │  └─────────┘│          │  └─────────┘│</a:t>
            </a:r>
            <a:br/>
            <a:r>
              <a:t>    │             │        │  Hypervisor │          │             │</a:t>
            </a:r>
            <a:br/>
            <a:r>
              <a:t>    └─────────────┘        └─────────────┘          │   Host OS   │</a:t>
            </a:r>
            <a:br/>
            <a:r>
              <a:t>                                                    │             │</a:t>
            </a:r>
            <a:br/>
            <a:r>
              <a:t>                                                    └─────────────┘</a:t>
            </a:r>
            <a:br/>
            <a:br/>
            <a:r>
              <a:t>    Heavy coupling          Heavy isolation         Lightweight isolation</a:t>
            </a:r>
            <a:br/>
            <a:r>
              <a:t>    No portability          Good portability        Excellent portability</a:t>
            </a:r>
            <a:br/>
            <a:r>
              <a:t>      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1 — WHAT IS DOCKER?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D4FF"/>
                </a:solidFill>
              </a:defRPr>
            </a:pPr>
            <a:r>
              <a:t>Containers vs Virtual Machines —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Characteristic</a:t>
                      </a:r>
                    </a:p>
                  </a:txBody>
                  <a:tcPr>
                    <a:solidFill>
                      <a:srgbClr val="9D4E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Container</a:t>
                      </a:r>
                    </a:p>
                  </a:txBody>
                  <a:tcPr>
                    <a:solidFill>
                      <a:srgbClr val="9D4E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Virtual Machine</a:t>
                      </a:r>
                    </a:p>
                  </a:txBody>
                  <a:tcPr>
                    <a:solidFill>
                      <a:srgbClr val="9D4ED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Guest OS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None (shared)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Full OS per VM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Kernel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Host kernel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Guest kernel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Hypervisor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Not required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Required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Startup time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&lt; 1 second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Minutes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Resource overhead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Low (MB)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High (GB)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Density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Thousands/Host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Dozens/Host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Isolation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Process-level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Hardware-level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Portability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Security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Kernel shared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Stronger isolation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1 — WHAT IS DOCKER?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Why Containers Became Important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1. MICROSERVICES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Many small services → Need consistent environments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Different tech stacks → Need isolation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2. CLOUD NATIVE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Scale horizontally → Need density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Ephemeral infrastructure → Need speed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3. DEVOPS CULTURE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'Works on my machine' → Eliminated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CI/CD pipelines → Standardized builds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4. IMMUTABLE INFRASTRUCTURE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Reproducible deployments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Version-controlled environments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DOCKER ARCHITECTURE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2 — DOCKER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D4FF"/>
                </a:solidFill>
              </a:defRPr>
            </a:pPr>
            <a:r>
              <a:t>Docker Architecture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11430000" cy="4846320"/>
          </a:xfrm>
          <a:prstGeom prst="roundRect">
            <a:avLst/>
          </a:prstGeom>
          <a:solidFill>
            <a:srgbClr val="0A0A15"/>
          </a:solidFill>
          <a:ln w="127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0FF88"/>
                </a:solidFill>
                <a:latin typeface="Courier New"/>
              </a:defRPr>
            </a:pPr>
            <a:br/>
            <a:r>
              <a:t>                    DOCKER ARCHITECTURE</a:t>
            </a:r>
            <a:br/>
            <a:br/>
            <a:r>
              <a:t>    DEVELOPER</a:t>
            </a:r>
            <a:br/>
            <a:r>
              <a:t>        │</a:t>
            </a:r>
            <a:br/>
            <a:r>
              <a:t>        ▼</a:t>
            </a:r>
            <a:br/>
            <a:r>
              <a:t>    ┌─────────┐</a:t>
            </a:r>
            <a:br/>
            <a:r>
              <a:t>    │Docker   │  ← CLI (Client)</a:t>
            </a:r>
            <a:br/>
            <a:r>
              <a:t>    │CLI      │</a:t>
            </a:r>
            <a:br/>
            <a:r>
              <a:t>    └────┬────┘</a:t>
            </a:r>
            <a:br/>
            <a:r>
              <a:t>         │  REST API</a:t>
            </a:r>
            <a:br/>
            <a:r>
              <a:t>         ▼</a:t>
            </a:r>
            <a:br/>
            <a:r>
              <a:t>    ┌─────────┐    ┌──────────┐</a:t>
            </a:r>
            <a:br/>
            <a:r>
              <a:t>    │ dockerd │───→│containerd│</a:t>
            </a:r>
            <a:br/>
            <a:r>
              <a:t>    │(Daemon) │    │          │</a:t>
            </a:r>
            <a:br/>
            <a:r>
              <a:t>    └────┬────┘    └────┬─────┘</a:t>
            </a:r>
            <a:br/>
            <a:r>
              <a:t>         │              │</a:t>
            </a:r>
            <a:br/>
            <a:r>
              <a:t>         │              ▼</a:t>
            </a:r>
            <a:br/>
            <a:r>
              <a:t>         │         ┌─────────┐</a:t>
            </a:r>
            <a:br/>
            <a:r>
              <a:t>         │         │  runc   │  ← OCI Runtime</a:t>
            </a:r>
            <a:br/>
            <a:r>
              <a:t>         │         └────┬────┘</a:t>
            </a:r>
            <a:br/>
            <a:r>
              <a:t>         │              │</a:t>
            </a:r>
            <a:br/>
            <a:r>
              <a:t>         │              ▼</a:t>
            </a:r>
            <a:br/>
            <a:r>
              <a:t>         │         ┌─────────┐</a:t>
            </a:r>
            <a:br/>
            <a:r>
              <a:t>         │         │  Linux  │</a:t>
            </a:r>
            <a:br/>
            <a:r>
              <a:t>         │         │  Kernel │</a:t>
            </a:r>
            <a:br/>
            <a:r>
              <a:t>         │         └─────────┘</a:t>
            </a:r>
            <a:br/>
            <a:r>
              <a:t>         │              │</a:t>
            </a:r>
            <a:br/>
            <a:r>
              <a:t>         └──────────────┘</a:t>
            </a:r>
            <a:br/>
            <a:r>
              <a:t>       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2 — DOCKER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D4FF"/>
                </a:solidFill>
              </a:defRPr>
            </a:pPr>
            <a:r>
              <a:t>Component Responsibilities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9D4E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Responsibility</a:t>
                      </a:r>
                    </a:p>
                  </a:txBody>
                  <a:tcPr>
                    <a:solidFill>
                      <a:srgbClr val="9D4ED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Docker CLI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User interface, command parsing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Docker API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REST interface for daemon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dockerd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Image management, API server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containerd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Container lifecycle, image pull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containerd-shim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Process supervision, signal handling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runc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OCI runtime, create container process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Linux Kernel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Namespaces, cgroups, filesystems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2 — DOCKER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What Happens: docker run nginx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1. CLI parses command, sends API request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2. dockerd receives request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3. Image resolution: check local, pull if needed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4. Create container config (namespaces, mounts, etc.)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5. containerd creates container snapshot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6. containerd prepares network namespace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7. containerd invokes runc with OCI spec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8. runc creates namespaces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9. runc configures cgroups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10. runc applies security profiles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11. runc executes entrypoint (nginx)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12. Container process running as PID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2 — DOCKER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Docker vs containerd vs Kubernetes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ENGINE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Full-featured daemon with CLI, API, image management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Uses containerd internally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Developer-friendly, feature-rich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containerd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Lightweight runtime, no CLI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Used by Docker and Kubernetes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Focus: container lifecycle only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KUBERNETES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Orchestration platform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Uses containerd (or CRI-O) as runtime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Does NOT require Docker Engine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Manages containers across many nodes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INSTALLATION AND ENVIRONMENT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3 — INSTALLATION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Installation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DESKTOP (Recommended for development)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Windows + WSL2 backend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macOS + Linux VM backend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Includes Kubernetes option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GUI + CLI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ENGINE (Linux servers)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Native Linux installation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Production deployments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Full control over configuration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ROOTLESS (Advanced)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Run without root privileges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Enhanced security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Some feature limitations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3 — INSTALLATION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Docker on Linux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# Official Docker repository (recommended)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curl -fsSL https://get.docker.com | sh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# Verify installation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sudo systemctl status docker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sudo docker run hello-world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# Post-install: Add user to docker group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sudo usermod -aG docker $USER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# Then logout and login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IMPORTANT: Docker daemon runs as root by default.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Users in 'docker' group can execute Docker commands.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3 — INSTALLATION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docker version — Output Explained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Client: Docker Engine - Community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Version:           24.0.5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API version:       1.43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Go version:        go1.20.6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Git commit:        ced0996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Built:             Wed Jul 19 19:58:50 2023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OS/Arch:           linux/amd64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Server: Docker Desktop 4.21.1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Engine: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Version:          24.0.5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API version:      1.43 (minimum version 1.12)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containerd: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Version:          1.6.21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runc: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Version:          1.1.7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3 — INSTALLATION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docker info — System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Server Version: 24.0.5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Storage Driver: overlay2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Backing Filesystem: extfs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Supports d_type: true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Logging Driver: json-file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Cgroup Driver: cgroupfs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Cgroup Version: 2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Kernel Version: 5.15.49-linuxkit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Operating System: Docker Desktop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CPUs: 8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Total Memory: 7.664GiB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Docker Root Dir: /var/lib/docker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Registry: https://index.docker.io/v1/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Experimental: false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CORE DOCKER CLI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4 — CORE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Docker CLI Object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container  →  Running processes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image      →  Read-only templates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volume     →  Persistent storage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network    →  Network connectivity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build      →  Image creation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context    →  Connection endpoints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plugin     →  Extensions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COMMAND GRAMMAR: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&lt;OBJECT&gt; &lt;COMMAND&gt; [OPTIONS]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Every object supports: create, ls, inspect, rm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4 — CORE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docker run — The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run [OPTIONS] IMAGE [COMMAND] [ARG...]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PURPOSE: Create AND start a new container from an image.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run nginx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Runs nginx in foreground (blocking)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run -d nginx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Runs nginx in background (detached)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run --name mynginx nginx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Names the container 'mynginx'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docker run -p 8080:80 nginx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Maps host port 8080 to container port 80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4 — CORE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D4FF"/>
                </a:solidFill>
              </a:defRPr>
            </a:pPr>
            <a:r>
              <a:t>docker run — Complete Flag Reference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28575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Flag</a:t>
                      </a:r>
                    </a:p>
                  </a:txBody>
                  <a:tcPr>
                    <a:solidFill>
                      <a:srgbClr val="9D4E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9D4EDD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-d, --detach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Run in background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-it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Interactive + TTY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--rm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Remove on exit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-p, --publish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Publish ports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--name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Container name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-e, --env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Set environment variable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-v, --volume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Mount volume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--network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Connect to network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--restart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Restart policy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--memory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Memory limit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--cpus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CPU limit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--user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Run as user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--read-only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Read-only filesystem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--cap-drop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Drop capabilities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--entrypoint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Override entrypoint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4 — CORE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docker create vs docker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create    →  Create container, do NOT start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run       →  Create container AND start it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USE CASE FOR docker create: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# Create container with complex config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create --name myapp \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-p 8080:80 \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-v /data:/app/data \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-e ENV=prod \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myimage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# Later, start when ready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start myapp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Useful for: Pre-configuring, scheduled starts, conditional startup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4 — CORE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Container Lifecycle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ps              →  List running containers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ps -a           →  List all containers (incl. stopped)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ps -q           →  List container IDs only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start &lt;name&gt;    →  Start stopped container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stop &lt;name&gt;     →  Graceful stop (SIGTERM, then SIGKILL)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restart &lt;name&gt;  →  Stop and start container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kill &lt;name&gt;     →  Force kill (SIGKILL immediately)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pause &lt;name&gt;    →  Pause all processes (SIGSTOP)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unpause &lt;name&gt;  →  Resume paused processes (SIGCONT)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rm &lt;name&gt;       →  Remove container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rm -f &lt;name&gt;    →  Force remove (kills if running)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4 — CORE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Image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pull &lt;image&gt;         →  Download image from registry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push &lt;image&gt;         →  Upload image to registry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build -t &lt;tag&gt; .     →  Build image from Dockerfile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tag &lt;src&gt; &lt;dst&gt;      →  Create tag alias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images               →  List local images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rmi &lt;image&gt;          →  Remove image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image inspect &lt;img&gt;  →  Detailed image metadata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history &lt;image&gt;      →  Show layer history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save &lt;image&gt; &gt; file.tar  →  Export image to tar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load &lt; file.tar          →  Import image from tar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4 — CORE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Monitoring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logs &lt;name&gt;           →  View container stdout/stderr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logs -f &lt;name&gt;        →  Follow logs (tail -f)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logs --tail 100 &lt;name&gt; → Last 100 lines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inspect &lt;name&gt;        →  Full JSON metadata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stats                 →  Live resource usage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top &lt;name&gt;            →  Running processes in container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diff &lt;name&gt;           →  Filesystem changes (C/A/D)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port &lt;name&gt;           →  Port mappings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events                →  Real-time event stream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docker run DEEP DIVE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5 — docker run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docker run -d -p 8080:80 --name web nginx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Breaking down character by character: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-d, --detach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Run container in background (daemon mode)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Returns container ID immediately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Container continues running after terminal closes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-p 8080:80, --publish 8080:80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Publish port: host_port:container_port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Maps host port 8080 to container port 80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Enables external access to container service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--name web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Assigns human-readable name 'web'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Default: random name like 'eloquent_morse'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nginx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Image name to run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Pulled from Docker Hub if not local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5 — docker run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-it — Interactive + TTY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run -it ubuntu bash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-i, --interactive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Keep STDIN open even if not attached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Required for interactive shell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-t, --tty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Allocate pseudo-TTY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Enables terminal features (colors, cursor, etc.)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COMBINED: -it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Standard pattern for interactive containers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Equivalent to: docker run -i -t ubuntu bash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WITHOUT -it: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run ubuntu bash  →  Container exits immediately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Reason: No stdin, bash has nothing to do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5 — docker run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--rm — Automatic Cleanup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run --rm nginx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BEHAVIOR: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Container is automatically removed when it exits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Equivalent to: docker rm &lt;container&gt; after exit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USE CASES: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One-time tasks and scripts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Testing and experimentation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CI/CD pipeline steps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WITHOUT --rm: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Stopped containers remain until manually removed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Can accumulate and consume disk space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PRODUCTION: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Rarely used (containers usually run long-term)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Useful for init containers and jobs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5 — docker run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-e, --env — Environment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run -e KEY=value nginx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run -e KEY nginx          # Uses host env value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run --env-file .env nginx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HOW IT WORKS: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Sets environment variable inside container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Application reads via os.environ / process.env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MULTIPLE VARIABLES: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run -e DB_HOST=db -e DB_PORT=5432 myapp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FROM FILE: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run --env-file production.env myapp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File format: KEY=value (one per line)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SECURITY WARNING: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Environment variables visible in: docker inspect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Not suitable for secrets (passwords, API keys)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Use Docker secrets or external secret managers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5 — docker run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-v, --volume — Mount Volumes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docker run -v /host/path:/container/path nginx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docker run -v myvolume:/data nginx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run --mount type=bind,source=/host,target=/app nginx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TWO SYNTAXES: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Short syntax: -v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-v /host/path:/container/path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-v myvolume:/data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-v /data  (anonymous volume)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Long syntax: --mount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--mount type=bind,source=/host,target=/container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--mount type=volume,source=myvol,target=/data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PRODUCTION PREFERENCE: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Use --mount (more explicit, better validation)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Short syntax is legacy but widely used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5 — docker run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--restart — Restart Policies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run --restart no nginx              # Default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run --restart on-failure nginx      # Restart on error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run --restart always nginx          # Always restart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run --restart unless-stopped nginx  # Restart unless stopped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POLICY DETAILS: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no (default)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Container does not restart automatically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on-failure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Restart only if container exits with non-zero code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Optional: --restart on-failure:3 (max 3 attempts)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always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Always restart, regardless of exit code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Even restarts after manual docker stop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unless-stopped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Restart always, EXCEPT if manually stopped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Respects docker stop command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5 — docker run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--memory, --cpus — Resource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run --memory=512m nginx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run --memory=1g --memory-swap=2g nginx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run --cpus=1.5 nginx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run --pids-limit=100 nginx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MEMORY: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--memory=512m     → Limit to 512 MB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--memory-swap=1g  → Total memory + swap = 1 GB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Without swap limit: container can use unlimited swap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CPU: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--cpus=1.5        → Limit to 1.5 CPU cores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--cpu-shares=512  → Relative weight (default: 1024)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PIDS: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--pids-limit=100  → Maximum 100 processes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Prevents fork bombs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PRODUCTION: Always set resource limits!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5 — docker run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--user — Run as Non-Root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docker run --user 1000:1000 nginx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run --user nobody nginx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docker run --user $(id -u):$(id -g) nginx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WHY NON-ROOT?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Principle of least privilege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Container compromise doesn't give host root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Required for security compliance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FORMAT: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--user UID:GID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--user username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CREATING NON-ROOT USER IN DOCKERFILE: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RUN useradd -m -u 1000 appuser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USER appuser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PRODUCTION: Always run as non-root user!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5 — docker run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--read-only — Immutable Filesystem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run --read-only nginx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EFFECT: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Container filesystem is read-only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Application cannot write to / (except tmpfs mounts)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USE CASES: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Security: Prevent malware from writing files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Compliance: Immutable infrastructure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Debugging: Detect unintended writes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REQUIREMENTS: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Application must write to volumes or /tmp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May need: --tmpfs /tmp --tmpfs /var/run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COMBINED WITH OTHER FLAGS: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run --read-only \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--tmpfs /tmp \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--cap-drop=ALL \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myapp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5 — docker run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--cap-drop, --cap-add — Linux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run --cap-drop=ALL nginx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run --cap-drop=ALL --cap-add=NET_BIND_SERVICE nginx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CAPABILITIES: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Fine-grained privileges (not all-or-nothing root)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38+ capabilities in Linux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COMMON CAPABILITIES: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NET_BIND_SERVICE  → Bind to ports &lt; 1024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SYS_TIME          → Set system time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DAC_OVERRIDE      → Bypass file permissions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CHOWN             → Change file ownership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PRODUCTION PATTERN: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--cap-drop=ALL           # Drop everything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--cap-add=NET_BIND_SERVICE  # Add only what's needed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SECURITY: Start with --cap-drop=ALL, add minimally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5 — docker run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--privileged — DANGEROUS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run --privileged nginx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WHAT IT DOES: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Grants container nearly all host capabilities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Disables most security restrictions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Container can access host devices, modify kernel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WHY DANGEROUS: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Container can escape to host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Full root access to host system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Bypasses all capability restrictions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Security nightmare in production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WHEN TO USE: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Docker-in-Docker (DinD) — limited contexts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Hardware access (USB, GPUs) — with extreme caution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NEVER USE IN PRODUCTION without security review!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5 — docker run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--entrypoint — Override Entrypoint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run --entrypoint /bin/sh nginx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PURPOSE: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Override the ENTRYPOINT defined in Dockerfile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Useful for debugging and one-off tasks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EXAMPLE: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# Dockerfile has: ENTRYPOINT ['python', 'app.py']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docker run myapp                    # Runs: python app.py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docker run --entrypoint /bin/sh myapp  # Runs: /bin/sh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COMBINED WITH CMD: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run --entrypoint /bin/sh myapp -c 'ls -la'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Runs: /bin/sh -c 'ls -la'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USE CASES: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Debug container startup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Run different command than default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Inspect image contents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CONTAINER LIFECYCLE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6 — CONTAINER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D4FF"/>
                </a:solidFill>
              </a:defRPr>
            </a:pPr>
            <a:r>
              <a:t>Container Lifecycle States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11430000" cy="4846320"/>
          </a:xfrm>
          <a:prstGeom prst="roundRect">
            <a:avLst/>
          </a:prstGeom>
          <a:solidFill>
            <a:srgbClr val="0A0A15"/>
          </a:solidFill>
          <a:ln w="127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0FF88"/>
                </a:solidFill>
                <a:latin typeface="Courier New"/>
              </a:defRPr>
            </a:pPr>
            <a:br/>
            <a:r>
              <a:t>                        CONTAINER LIFECYCLE</a:t>
            </a:r>
            <a:br/>
            <a:br/>
            <a:r>
              <a:t>                              ┌─────────┐</a:t>
            </a:r>
            <a:br/>
            <a:r>
              <a:t>                              │ created │</a:t>
            </a:r>
            <a:br/>
            <a:r>
              <a:t>                              └────┬────┘</a:t>
            </a:r>
            <a:br/>
            <a:r>
              <a:t>                                   │ docker start</a:t>
            </a:r>
            <a:br/>
            <a:r>
              <a:t>                                   ▼</a:t>
            </a:r>
            <a:br/>
            <a:r>
              <a:t>                              ┌─────────┐</a:t>
            </a:r>
            <a:br/>
            <a:r>
              <a:t>                              │ running │◄────┐</a:t>
            </a:r>
            <a:br/>
            <a:r>
              <a:t>                              └────┬────┘     │</a:t>
            </a:r>
            <a:br/>
            <a:r>
              <a:t>                                   │          │</a:t>
            </a:r>
            <a:br/>
            <a:r>
              <a:t>                        ┌──────────┼──────────┤</a:t>
            </a:r>
            <a:br/>
            <a:r>
              <a:t>                        │          │          │</a:t>
            </a:r>
            <a:br/>
            <a:r>
              <a:t>                        ▼          ▼          │</a:t>
            </a:r>
            <a:br/>
            <a:r>
              <a:t>                  ┌─────────┐  ┌─────────┐   │ docker unpause</a:t>
            </a:r>
            <a:br/>
            <a:r>
              <a:t>                  │ paused  │  │ stopped │   │</a:t>
            </a:r>
            <a:br/>
            <a:r>
              <a:t>                  └────┬────┘  └────┬────┘   │</a:t>
            </a:r>
            <a:br/>
            <a:r>
              <a:t>                       │            │        │</a:t>
            </a:r>
            <a:br/>
            <a:r>
              <a:t>                       │ docker     │ docker │</a:t>
            </a:r>
            <a:br/>
            <a:r>
              <a:t>                       │ pause      │ start  │</a:t>
            </a:r>
            <a:br/>
            <a:r>
              <a:t>                       └────────────┘        │</a:t>
            </a:r>
            <a:br/>
            <a:r>
              <a:t>                                             │</a:t>
            </a:r>
            <a:br/>
            <a:r>
              <a:t>                                   docker rm │</a:t>
            </a:r>
            <a:br/>
            <a:r>
              <a:t>                                   (if --rm) │</a:t>
            </a:r>
            <a:br/>
            <a:r>
              <a:t>                                   ◄─────────┘</a:t>
            </a:r>
            <a:br/>
            <a:r>
              <a:t>        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6 — CONTAINER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Exit Codes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0    → Success / graceful shutdown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1    → Application error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137  → SIGKILL (128 + 9) — killed by OOM or docker kill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143  → SIGTERM (128 + 15) — graceful shutdown requested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126  → Command cannot execute (permissions)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127  → Command not found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INTERPRETING EXIT CODES: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inspect --format='{{.State.ExitCode}}' &lt;container&gt;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PRODUCTION: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Monitor exit codes in orchestration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137 often indicates OOM (out of memory)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143 expected during rolling updates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6 — CONTAINER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PID 1 and Signal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In a container, the main process runs as PID 1.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WHY THIS MATTERS: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PID 1 has special signal handling in Linux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Default: PID 1 ignores SIGINT, SIGTERM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Container won't shut down gracefully!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SOLUTIONS: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1. Use init system (tini, dumb-init):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FROM python:3.11-slim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RUN apt-get install -y tini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ENTRYPOINT ['tini', '--']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CMD ['python', 'app.py']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2. Use exec form (not shell form):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CMD ['python', 'app.py']  # Correct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CMD python app.py         # Wrong (shell form)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6 — CONTAINER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CMD vs ENTRYPOINT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CMD — Default arguments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Can be easily overridden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docker run image arg  →  replaces CMD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ENTRYPOINT — Default executable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Harder to override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docker run image  →  runs ENTRYPOINT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docker run --entrypoint X image  →  overrides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RECOMMENDED PATTERN: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ENTRYPOINT ['python', 'app.py']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CMD ['--help']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run myapp           →  python app.py --help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run myapp --debug   →  python app.py --debug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SHELL FORM vs EXEC FORM: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CMD python app.py      # Shell form (spawns /bin/sh)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CMD ['python', 'app.py']  # Exec form (direct exec)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DOCKER IMAGES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7 — IMAGES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What is a Docker Image?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An image is a READ-ONLY template for creating containers.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CONTAINS: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Filesystem layers (stacked, immutable)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Configuration metadata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Environment variables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Exposed ports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Entrypoint / CMD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Working directory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User information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IDENTIFICATION: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Repository:Tag → nginx:latest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Digest → nginx@sha256:abc123...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IMAGES ARE IMMUTABLE — once built, they never change.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7 — IMAGES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Tags vs Digests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nginx:latest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Tag is a MUTABLE reference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Can point to different images over time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'latest' is just a convention, not guaranteed stable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nginx:1.27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Version tag (still mutable!)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Maintainer can push new 1.27 image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nginx@sha256:7f5e4c8a2b1d...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Digest is an IMMUTABLE content identifier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SHA256 hash of image manifest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Always points to exact same image bytes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PRODUCTION BEST PRACTICE: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Use digests for immutable deployments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Or use version tags + digest pinning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IMAGE LAYERS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8 —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D4FF"/>
                </a:solidFill>
              </a:defRPr>
            </a:pPr>
            <a:r>
              <a:t>Image Layer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11430000" cy="4846320"/>
          </a:xfrm>
          <a:prstGeom prst="roundRect">
            <a:avLst/>
          </a:prstGeom>
          <a:solidFill>
            <a:srgbClr val="0A0A15"/>
          </a:solidFill>
          <a:ln w="127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0FF88"/>
                </a:solidFill>
                <a:latin typeface="Courier New"/>
              </a:defRPr>
            </a:pPr>
            <a:br/>
            <a:r>
              <a:t>    nginx:latest</a:t>
            </a:r>
            <a:br/>
            <a:br/>
            <a:r>
              <a:t>    ┌─────────────────────────────────────────────────────────────┐</a:t>
            </a:r>
            <a:br/>
            <a:r>
              <a:t>    │  Layer 4:  nginx config + entrypoint      [~2KB]           │</a:t>
            </a:r>
            <a:br/>
            <a:r>
              <a:t>    │  ─────────────────────────────────────────────────────      │</a:t>
            </a:r>
            <a:br/>
            <a:r>
              <a:t>    │  Layer 3:  nginx binary + modules         [~50MB]          │</a:t>
            </a:r>
            <a:br/>
            <a:r>
              <a:t>    │  ─────────────────────────────────────────────────────      │</a:t>
            </a:r>
            <a:br/>
            <a:r>
              <a:t>    │  Layer 2:  apt packages, libraries        [~80MB]          │</a:t>
            </a:r>
            <a:br/>
            <a:r>
              <a:t>    │  ─────────────────────────────────────────────────────      │</a:t>
            </a:r>
            <a:br/>
            <a:r>
              <a:t>    │  Layer 1:  Debian base filesystem         [~50MB]          │</a:t>
            </a:r>
            <a:br/>
            <a:r>
              <a:t>    │  ─────────────────────────────────────────────────────      │</a:t>
            </a:r>
            <a:br/>
            <a:r>
              <a:t>    │  Layer 0:  Empty base layer               [~0B]            │</a:t>
            </a:r>
            <a:br/>
            <a:r>
              <a:t>    │                                                             │</a:t>
            </a:r>
            <a:br/>
            <a:r>
              <a:t>    │  Total image size: ~180MB                                   │</a:t>
            </a:r>
            <a:br/>
            <a:r>
              <a:t>    │  Shared layers reduce storage across images                 │</a:t>
            </a:r>
            <a:br/>
            <a:r>
              <a:t>    │                                                             │</a:t>
            </a:r>
            <a:br/>
            <a:r>
              <a:t>    └─────────────────────────────────────────────────────────────┘</a:t>
            </a:r>
            <a:br/>
            <a:r>
              <a:t>        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8 —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Layer Caching — The Critical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builds layers IN ORDER from Dockerfile.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Each instruction creates a new layer.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CACHE RULE: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If instruction unchanged AND parent layer cached → reuse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If instruction changes → invalidate cache for this + all below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OPTIMAL ORDERING: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FROM python:3.11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COPY requirements.txt .        # Rarely changes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RUN pip install -r requirements.txt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COPY . .                       # Frequently changes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CMD ['python', 'app.py']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BAD ORDERING: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FROM python:3.11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COPY . .                       # Changes often → invalidates pip install!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RUN pip install -r requirements.txt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CMD ['python', 'app.py']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OVERLAYFS / UNION FILESYSTEM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9 — OVERLAYFS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OverlayFS — How Layers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OverlayFS is the union filesystem that makes Docker layers possible.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CONCEPTS: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lowerdir  → Read-only image layers (stacked)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upperdir  → Writable container layer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merged    → Unified view presented to container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COPY-ON-WRITE: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Container reads from lowerdir (image)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First write to a file: copies to upperdir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Subsequent writes go to upperdir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WHITE OUTS: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Deleting a file from lowerdir creates a whiteout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Whiteout hides the lower file from merged view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This is why container changes don't affect the image!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DOCKERFILE FROM ZERO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10 — DOCKERFILE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FROM — Base 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FROM &lt;image&gt;[:&lt;tag&gt;] [AS &lt;name&gt;]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FROM python:3.11-slim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Uses Python 3.11 on Debian slim as base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FROM node:18-alpine AS builder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Names this stage 'builder' for multi-stage builds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BEST PRACTICES: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Choose minimal base images for production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Pin specific versions (avoid :latest in production)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Use official images from trusted sources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Consider distroless for maximum security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FROM must be the first instruction (or ARG before FROM)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10 — DOCKERFILE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RUN — Execute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RUN &lt;command&gt;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RUN ["executable", "param1", "param2"]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RUN apt-get update &amp;&amp; apt-get install -y nginx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Executes during BUILD, not runtime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Creates a new layer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BEST PRACTICES: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Combine related commands with &amp;&amp;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Clean up in same layer: rm -rf /var/lib/apt/lists/*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Avoid: RUN apt-get update (alone) then RUN apt-get install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Cache may serve stale package lists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SHELL FORM vs EXEC FORM: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RUN apt-get update    # Shell form (spawns /bin/sh)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RUN ['apt-get', 'update']  # Exec form (direct)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10 — DOCKERFILE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CMD — Default Command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CMD ["executable", "param1", "param2"]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CMD command param1 param2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CMD ["param1", "param2"]  # For use with ENTRYPOINT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PURPOSE: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Provides default command when container starts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Can be overridden: docker run image custom_cmd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EXAMPLES: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CMD ['python', 'app.py']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CMD python app.py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CMD ['--help']  # Used with ENTRYPOINT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IMPORTANT: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Only ONE CMD per Dockerfile (last one wins)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Use exec form to avoid signal handling issues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CMD is often overridden in orchestration (K8s)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10 — DOCKERFILE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ENTRYPOINT — Default Executable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ENTRYPOINT ["executable", "param1"]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ENTRYPOINT command param1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PURPOSE: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Configures container as executable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Arguments are appended, not replaced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EXAMPLE: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ENTRYPOINT ['python', 'app.py']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CMD ['--help']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run myapp              →  python app.py --help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run myapp --debug      →  python app.py --debug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OVERRIDING: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run --entrypoint /bin/sh myapp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Completely replaces ENTRYPOINT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PRODUCTION: Use ENTRYPOINT for the main application command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10 — DOCKERFILE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COPY — Copy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COPY &lt;src&gt; &lt;dest&gt;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COPY ["&lt;src&gt;", "&lt;dest&gt;"]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COPY &lt;src&gt;... &lt;dest&gt;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COPY app/ /app/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Copies app/ directory to /app/ in container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COPY requirements.txt .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Copies to current WORKDIR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BEST PRACTICES: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Use specific files, not COPY . . when possible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Order COPY instructions for cache efficiency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COPY is preferred over ADD for most cases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DOCKERIGNORE: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.dockerignore works like .gitignore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Prevents copying unnecessary files (node_modules, .git)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10 — DOCKERFILE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WORKDIR — Working Directory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WORKDIR /app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EFFECT: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Sets working directory for subsequent instructions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RUN, CMD, ENTRYPOINT, COPY execute relative to WORKDIR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Creates directory if it doesn't exist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EXAMPLE: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WORKDIR /app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COPY . .              →  Copies to /app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RUN npm install       →  Runs in /app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CMD ['node', 'server.js']  →  Runs in /app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BEST PRACTICE: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Always use absolute paths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Set WORKDIR early in Dockerfile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Don't use: RUN cd /app &amp;&amp; npm install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10 — DOCKERFILE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ENV vs ARG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ENV — Runtime Environment Variable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ENV NODE_ENV=production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Available during build AND runtime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Visible in: docker inspect, container environment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ARG — Build-time Variable Only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ARG BUILD_VERSION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Only available during build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NOT present in running container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Can have default: ARG BUILD_VERSION=latest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COMBINED: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ARG BUILD_VERSION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ENV APP_VERSION=$BUILD_VERSION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Passes build arg to runtime env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SECURITY: Don't use ARG for secrets (visible in image history)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10 — DOCKERFILE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EXPOSE — Document 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EXPOSE 80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EXPOSE 8080/tcp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EXPOSE 5432/udp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WHAT IT DOES: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Documents which ports the container listens on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Does NOT actually publish ports!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Metadata only — visible in docker inspect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PUBLISHING PORTS: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Requires -p flag at runtime: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docker run -p 8080:80 myapp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EXPOSE 80 + -p 8080:80 = external access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CONFUSION: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EXPOSE ≠ publishing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EXPOSE = documentation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-p = actual port publishing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BEST PRACTICE: Always include EXPOSE for documentation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10 — DOCKERFILE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USER — Set Runtime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USER 1000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USER appuser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USER 1000:1000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PURPOSE: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Sets the user for subsequent RUN, CMD, ENTRYPOINT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Running container executes as this user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CREATING THE USER: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RUN useradd -m -u 1000 -s /bin/bash appuser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USER appuser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BEST PRACTICES: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Create user before switching to it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Use numeric UID for portability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Don't use root in production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Consider read-only filesystem + non-root user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RUNTIME OVERRIDE: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docker run --user 2000:2000 myapp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10 — DOCKERFILE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HEALTHCHECK — Container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HEALTHCHECK --interval=30s --timeout=3s \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CMD curl -f http://localhost:8080/health || exit 1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OPTIONS: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--interval=30s    → Check every 30 seconds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--timeout=3s      → Fail if no response in 3s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--start-period=60s → Grace period for startup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--retries=3       → Fail after 3 consecutive failures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HEALTH STATES: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starting → Container starting up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healthy  → Healthcheck passing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unhealthy → Healthcheck failing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ORCHESTRATION: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Docker Compose, Kubernetes use health status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Unhealthy containers can trigger restarts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WITHOUT HEALTHCHECK: Container is 'healthy' if running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DOCKERFILE MASTERCLASS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11 — DOCKERFILE MASTERCLASS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Build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build -t myapp 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The '.' is the BUILD CONTEXT — sent to Docker daemon.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WHAT GETS SENT: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All files in current directory (recursively)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Except files matching .dockerignore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WHY IT MATTERS: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Large context = slow builds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Context is uploaded even for remote builds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Security: don't include secrets in context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OPTIMIZATION: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Keep Dockerfile in project root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Use .dockerignore aggressively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Consider multi-stage builds to reduce final image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11 — DOCKERFILE MASTERCLASS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.dockerignore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Create .dockerignore in project root: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# Version control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.git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.gitignore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# Dependencies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node_modules/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__pycache__/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*.pyc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# IDE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.vscode/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.idea/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# Secrets (NEVER include!)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.env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*.pem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secrets/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# Documentation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*.md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docs/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Result: Smaller context, faster builds, no secret leaks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11 — DOCKERFILE MASTERCLASS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Production Dockerfile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✓ Use specific base image tag (not :latest)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✓ Use multi-stage build for compiled languages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✓ Order instructions for cache efficiency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✓ Use .dockerignore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✓ Create non-root user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✓ Set USER instruction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✓ Include HEALTHCHECK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✓ Use exec form for CMD/ENTRYPOINT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✓ Pin package versions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✓ Minimize layers (combine RUN commands)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✓ Remove build dependencies from final image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✓ Set resource limits at runtime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✓ Use read-only filesystem where possible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✓ Drop unnecessary capabilities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✓ Scan image for vulnerabilities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MULTI-STAGE BUILDS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12 — MULTI-STAGE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Multi-Stage Build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Single-stage problem: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Build tools remain in final image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Larger attack surface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Unnecessary dependencies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Multi-stage solution: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FROM python:3.11 AS builder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RUN pip install -r requirements.txt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COPY . 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FROM python:3.11-slim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COPY --from=builder /app /app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CMD ['python', 'app.py']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RESULT: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Final image has only runtime dependencies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Smaller, more secure, production-ready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12 — MULTI-STAGE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Multi-Stage — Python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FROM python:3.11 AS builder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WORKDIR /app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COPY requirements.txt 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RUN pip install --user -r requirements.txt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FROM python:3.11-slim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WORKDIR /app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COPY --from=builder /root/.local /root/.local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COPY . .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ENV PATH=/root/.local/bin:$PATH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USER 1000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CMD ['python', 'app.py']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BENEFITS: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No pip, gcc, build tools in final image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~500MB → ~150MB image size reduction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Reduced attack surface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DOCKER BUILD / BUILDKIT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13 — BUILDKIT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BuildKit — Modern Build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buildx build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BUILDKIT FEATURES: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Parallel builds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Better caching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Build secrets (not in image history)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SSH mounts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Multi-platform builds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Remote caching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ENABLE BUILDKIT: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export DOCKER_BUILDKIT=1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# Or use: docker buildx build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BUILDX COMMANDS: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buildx ls           → List builders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buildx create       → Create new builder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buildx use &lt;name&gt;   → Switch builder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buildx inspect      → Builder details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13 — BUILDKIT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BuildKit — Secret 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# syntax=docker/dockerfile:1.4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FROM python:3.11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# Mount secret during build, not stored in image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RUN --mount=type=secret,id=npm_token \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npm config set //registry.npmjs.org/:_authToken=$(cat /run/secrets/npm_token) &amp;&amp; \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npm install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BUILD WITH SECRET: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buildx build --secret id=npm_token,src=.npm_token 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WHY THIS MATTERS: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Secret not visible in: docker history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Secret not in any layer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Not leaked in image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DOCKER STORAGE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14 —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D4FF"/>
                </a:solidFill>
              </a:defRPr>
            </a:pPr>
            <a:r>
              <a:t>Storage Options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9D4E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Persistence</a:t>
                      </a:r>
                    </a:p>
                  </a:txBody>
                  <a:tcPr>
                    <a:solidFill>
                      <a:srgbClr val="9D4E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9D4EDD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Container layer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Ephemeral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Temporary data, caches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Persistent (named)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Database data, uploads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Bind mount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Persistent (host path)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Development, config files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tmpfs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Memory only (RAM)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Sensitive data, temp files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14 —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Volumes — Persistent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volume create mydata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docker run -v mydata:/data nginx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volume ls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volume inspect mydata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volume rm mydata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VOLUME CHARACTERISTICS: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Managed by Docker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Survives container removal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Can be shared across containers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Stored in /var/lib/docker/volumes/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PRODUCTION: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Use volumes for database data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Backup volumes regularly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Consider volume drivers for cloud storage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14 —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Bind 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docker run -v /host/path:/container/path nginx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CHARACTERISTICS: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Direct mapping to host filesystem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Changes visible on both sides immediately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Host path must exist (or created with :Z flag)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USE CASES: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Development: Mount source code for hot reload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Configuration: Mount config files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Logs: Access container logs from host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SECURITY CONCERN: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Container has access to host filesystem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Can read/write any mounted path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Use with caution in production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DOCKER NETWORKING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15 — NETWORKING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Docker Network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bridge (default)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Private network per container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NAT to host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Custom bridge networks recommended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host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Container shares host network stack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No port mapping needed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Less isolation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none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No networking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Container isolated from network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overlay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Multi-host networking (Swarm/K8s)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VXLAN under the hood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macvlan / ipvlan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Container gets MAC/IP on host network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Appears as physical device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15 — NETWORKING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Custom Bridge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network create mynet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run --network=mynet --name db postgres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run --network=mynet --name web nginx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WHY CUSTOM BRIDGE?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Automatic DNS resolution by container name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Isolated from default bridge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Better security and organization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DNS RESOLUTION: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db container → ping web works (resolves to container IP)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web container → ping db works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DEFAULT BRIDGE LIMITATIONS: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No automatic DNS between containers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Must use --link (deprecated) or IP addresses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All containers on same network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15 — NETWORKING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Port Publishing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-p 8080:80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Host port 8080 → Container port 80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External access: http://host:8080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-p 127.0.0.1:8080:80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Bind only to localhost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Not accessible from network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-p 80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Random host port → Container port 80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docker port &lt;container&gt; to see mapping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MULTIPLE PORTS: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-p 8080:80 -p 8443:443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ALL PORTS: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-P (uppercase) → Publish all EXPOSEd ports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DOCKER DNS / SERVICE DISCOVERY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16 — DNS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Embedded DNS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On custom bridge networks, Docker provides DNS.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EXAMPLE: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network create backend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run -d --network=backend --name database postgres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run -d --network=backend --name api myapp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IN api CONTAINER: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ping database  →  Resolves to database container IP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curl http://database:5432  →  Connects to database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HOW IT WORKS: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Docker runs embedded DNS server (127.0.0.11)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Container /etc/resolv.conf points to it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Container names registered automatically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SCOPE: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DNS works within the same Docker network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Cross-network: use hostnames or external DNS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ENVIRONMENT VARIABLES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17 — ENV VARS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Configuration via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ENV DATABASE_URL=postgresql://db:5432/myapp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RUNTIME OVERRIDE: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docker run -e DATABASE_URL=prod://db:5432/app myapp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FROM FILE: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run --env-file production.env myapp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COMPOSE: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environment: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- DATABASE_URL=postgresql://db:5432/myapp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env_file: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- production.env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12-FACTOR APP: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Store config in environment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Separate from code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Easy to change without rebuilding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DOCKER SECRETS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18 — SECRETS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Secrets — What NOT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NEVER DO THIS: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ENV PASSWORD=supersecret123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Visible in: docker inspect, process list, logs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COPY secret.json /app/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Stored in image layer forever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docker history shows the file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RUN echo $PASSWORD &gt; /app/config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If ARG, visible in image history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WHERE SECRETS LEAK: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Image history (docker history)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Image layers (docker save)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Build logs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CI/CD logs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Container inspection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Process environment (/proc)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18 — SECRETS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Secrets — Proper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BUILD-TIME SECRETS (BuildKit):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# syntax=docker/dockerfile:1.4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RUN --mount=type=secret,id=npm_token npm install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buildx build --secret id=npm_token,src=.token 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RUNTIME SECRETS: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Docker Swarm secrets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Kubernetes Secrets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External: HashiCorp Vault, AWS Secrets Manager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DOCKER SWARM: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echo 'mypassword' | docker secret create db_password -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service create --secret db_password myapp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IN CONTAINER: /run/secrets/db_password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DOCKER SECURITY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19 —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Security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Defense in depth — multiple security layers: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1. USER — Run as non-root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2. CAPABILITIES — Drop all, add minimal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3. SECCOMP — System call filtering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4. APPARMOR/SELinux — Mandatory access control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5. READ-ONLY — Immutable filesystem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6. RESOURCE LIMITS — CPU, memory, PIDs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7. NETWORK ISOLATION — Custom networks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8. IMAGE SCANNING — Vulnerability detection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SECURE CONTAINER EXAMPLE: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run \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--user 1000:1000 \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--read-only \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--cap-drop=ALL \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--security-opt=no-new-privileges \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--pids-limit=100 \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myapp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19 —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--privileged is DANGEROUS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run --privileged nginx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GRANTS CONTAINER: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All Linux capabilities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Access to all host devices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Ability to modify kernel parameters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Mount filesystems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Load kernel modules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RISKS: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Container can escape to host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Full root compromise of host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Bypasses all security controls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WHEN ACCEPTABLE: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Docker-in-Docker (limited contexts)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Hardware access (USB devices)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PRODUCTION RULE: Never use --privileged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19 —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Linux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Capabilities provide fine-grained privileges.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COMMON CAPABILITIES: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CAP_NET_BIND_SERVICE → Bind to ports &lt; 1024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CAP_SYS_TIME → Set system time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CAP_DAC_OVERRIDE → Bypass file permissions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CAP_CHOWN → Change file ownership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CAP_SETUID → Change user ID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SECURE PATTERN: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--cap-drop=ALL           # Start with nothing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--cap-add=NET_BIND_SERVICE  # Add only needed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CHECK CONTAINER CAPABILITIES: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run --cap-drop=ALL --cap-add=NET_BIND_SERVICE \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myapp cat /proc/self/status | grep Cap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IMAGE SECURITY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20 — IMAGE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Image Security — Attack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ATTACK POINTS IN IMAGE PIPELINE: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Source Code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Vulnerabilities in application code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Dependencies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Vulnerable packages (npm, pip, etc.)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Base Image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OS vulnerabilities, backdoors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Build Process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Secret leaks, malicious build steps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Registry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Man-in-the-middle, compromised images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Runtime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Container escape, privilege escalation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20 — IMAGE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Vulnerability Scanning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scan myimage              # Docker Scout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scan --file Dockerfile myimage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TRIVY (Popular open source):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trivy image myimage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trivy fs .                     # Scan filesystem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WHAT SCANNERS DETECT: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Known CVEs in OS packages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Vulnerable dependencies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Secrets in image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Misconfigurations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INTEGRATION: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CI/CD pipeline: fail build on critical CVEs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Regular scans of running containers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SBOM generation for compliance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20 — IMAGE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SBOM, Signing,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SBOM (Software Bill of Materials):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Complete inventory of image contents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Required for compliance (Executive Order 14028)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Generated by: syft, trivy, Docker Scout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IMAGE SIGNING: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Cryptographic signature of image manifest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Verify image hasn't been tampered with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Tools: cosign, Docker Content Trust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PROVENANCE: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Attestation of build process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Who built it, when, from what source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SLSA compliance framework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SUPPLY CHAIN SECURITY: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Verify: Source → Dependencies → Build → Sign → Deploy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ALPINE VS DEBIAN SLIM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21 — BASE IMAGES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D4FF"/>
                </a:solidFill>
              </a:defRPr>
            </a:pPr>
            <a:r>
              <a:t>Base Image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Image</a:t>
                      </a:r>
                    </a:p>
                  </a:txBody>
                  <a:tcPr>
                    <a:solidFill>
                      <a:srgbClr val="9D4E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>
                    <a:solidFill>
                      <a:srgbClr val="9D4E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libc</a:t>
                      </a:r>
                    </a:p>
                  </a:txBody>
                  <a:tcPr>
                    <a:solidFill>
                      <a:srgbClr val="9D4E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Debug</a:t>
                      </a:r>
                    </a:p>
                  </a:txBody>
                  <a:tcPr>
                    <a:solidFill>
                      <a:srgbClr val="9D4E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Security</a:t>
                      </a:r>
                    </a:p>
                  </a:txBody>
                  <a:tcPr>
                    <a:solidFill>
                      <a:srgbClr val="9D4E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Packages</a:t>
                      </a:r>
                    </a:p>
                  </a:txBody>
                  <a:tcPr>
                    <a:solidFill>
                      <a:srgbClr val="9D4ED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alpine:latest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~5MB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musl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Hard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apk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debian:slim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~80MB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glibc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Easy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apt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ubuntu:22.04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~70MB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glibc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Easy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apt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distroless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~20MB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glibc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Best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scratch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~0MB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Best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21 — BASE IMAGES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Choosing a Base 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ALPINE: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✓ Tiny size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✓ Good security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✗ musl libc (compatibility issues)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✗ Hard to debug (minimal tools)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Good for: Go, static binaries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DEBIAN SLIM / UBUNTU: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✓ glibc compatibility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✓ Easy debugging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✗ Larger size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Good for: Python, Node.js, Java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DISTROLESS: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✓ Minimal attack surface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✓ No package manager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✗ No shell for debugging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Good for: Production, security-focused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SCRATCH: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Empty base, only your binary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Requires static linking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HEALTHCHECKS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22 — HEALTHCHECKS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HEALTHCHECK Instruction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HEALTHCHECK --interval=30s --timeout=3s --start-period=60s \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CMD curl -f http://localhost:8080/health || exit 1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STATES: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starting → Grace period, not yet unhealthy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healthy → Check passing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unhealthy → Check failing (retries exceeded)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DOCKER COMPOSE: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healthcheck: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test: ['CMD', 'curl', '-f', 'http://localhost:8080/health']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interval: 30s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timeout: 3s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retries: 3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start_period: 60s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ORCHESTRATION: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Kubernetes liveness/readiness probes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Unhealthy → restart container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LOGGING AND OBSERVABILITY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23 — LOGGING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Container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logs &lt;container&gt;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logs -f &lt;container&gt;        # Follow (tail -f)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logs --tail 100 &lt;container&gt;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logs --since 1h &lt;container&gt;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LOG DRIVERS: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json-file (default) → Local JSON files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syslog → System log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journald → systemd journal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fluentd → Fluentd aggregator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awslogs → AWS CloudWatch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gcplogs → Google Cloud Logging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APPLICATION LOGGING: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Write to stdout/stderr (12-factor)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Don't write to files inside container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Let Docker capture and route logs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DOCKER COMPOSE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24 — COMPOSE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Docker Compose —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Compose orchestrates multi-container applications.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compose up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Creates network, volumes, starts all services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compose down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Stops and removes containers, network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compose ps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List services status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compose logs -f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Follow logs from all services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compose exec &lt;service&gt; sh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Execute command in running service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24 — COMPOSE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Compose File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version: '3.8'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services: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web: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build: .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ports: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- '8080:80'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environment: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- DATABASE_URL=postgresql://db:5432/myapp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depends_on: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- db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db: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image: postgres:15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volumes: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- postgres_data:/var/lib/postgresql/data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volumes: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postgres_data: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24 — COMPOSE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Compose — Production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SEPARATE FILES: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compose -f docker-compose.yml \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-f docker-compose.prod.yml up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OVERRIDE STRATEGY: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docker-compose.yml → Base configuration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docker-compose.override.yml → Development overrides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docker-compose.prod.yml → Production overrides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PROFILES: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profiles: ['debug']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compose --profile debug up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ENVIRONMENT: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env_file: .env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environment: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- NODE_ENV=production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COMPOSE PRODUCTION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25 — COMPOSE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Compose — Production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✓ Resource limits per service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deploy: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resources: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limits: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cpus: '1.0'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memory: 512M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✓ Healthchecks on all services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✓ Restart policies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restart: unless-stopped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✓ Secrets (not env vars)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✓ Network isolation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networks: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frontend: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backend: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✓ Volume backups configured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✓ Log rotation configured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DOCKER REGISTRIES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26 — REGISTRIES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Docker Registries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HUB (docker.io)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Public registry, free tier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Rate limits on anonymous pulls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GHCR (ghcr.io)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GitHub Container Registry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Integrated with GitHub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CLOUD REGISTRIES: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ECR → Amazon Elastic Container Registry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ACR → Azure Container Registry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GCR → Google Container Registry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PRIVATE: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Harbor → CNCF open source registry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Nexus → Sonatype Nexus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Artifactory → JFrog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26 — REGISTRIES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Registry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login                    # Login to Docker Hub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login ghcr.io            # Login to GHCR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pull nginx               # Pull from Docker Hub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pull ghcr.io/user/app    # Pull from GHCR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docker tag myapp user/myapp:1.0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docker push user/myapp:1.0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IMAGE NAMING: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[registry/][username/]name:tag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nginx                       → docker.io/nginx:latest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user/myapp:1.0              → docker.io/user/myapp:1.0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ghcr.io/org/app:v2          → ghcr.io/org/app:v2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localhost:5000/myapp        → Private registry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IMAGE TAGGING STRATEGY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27 — TAGGING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Tagging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latest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Points to most recent push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Mutable, unpredictable in production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Semantic Versioning: v1.2.3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Immutable tags for releases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Clear version progression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Git SHA: abc123def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Trace image to exact commit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Useful for debugging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Build Number: build-1234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CI/CD pipeline traceability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PRODUCTION STRATEGY: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Tag with: version + git SHA + build number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myapp:v1.2.3-abc123-build-1234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DOCKER CI/CD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28 — CI/CD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D4FF"/>
                </a:solidFill>
              </a:defRPr>
            </a:pPr>
            <a:r>
              <a:t>Docker CI/CD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11430000" cy="4846320"/>
          </a:xfrm>
          <a:prstGeom prst="roundRect">
            <a:avLst/>
          </a:prstGeom>
          <a:solidFill>
            <a:srgbClr val="0A0A15"/>
          </a:solidFill>
          <a:ln w="127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0FF88"/>
                </a:solidFill>
                <a:latin typeface="Courier New"/>
              </a:defRPr>
            </a:pPr>
            <a:br/>
            <a:r>
              <a:t>    Git Push</a:t>
            </a:r>
            <a:br/>
            <a:r>
              <a:t>        │</a:t>
            </a:r>
            <a:br/>
            <a:r>
              <a:t>        ▼</a:t>
            </a:r>
            <a:br/>
            <a:r>
              <a:t>    ┌─────────────┐</a:t>
            </a:r>
            <a:br/>
            <a:r>
              <a:t>    │   TEST      │  → Unit tests, lint, security scan</a:t>
            </a:r>
            <a:br/>
            <a:r>
              <a:t>    └──────┬──────┘</a:t>
            </a:r>
            <a:br/>
            <a:r>
              <a:t>           │</a:t>
            </a:r>
            <a:br/>
            <a:r>
              <a:t>           ▼</a:t>
            </a:r>
            <a:br/>
            <a:r>
              <a:t>    ┌─────────────┐</a:t>
            </a:r>
            <a:br/>
            <a:r>
              <a:t>    │   BUILD     │  → docker buildx build --platform linux/amd64,linux/arm64</a:t>
            </a:r>
            <a:br/>
            <a:r>
              <a:t>    └──────┬──────┘</a:t>
            </a:r>
            <a:br/>
            <a:r>
              <a:t>           │</a:t>
            </a:r>
            <a:br/>
            <a:r>
              <a:t>           ▼</a:t>
            </a:r>
            <a:br/>
            <a:r>
              <a:t>    ┌─────────────┐</a:t>
            </a:r>
            <a:br/>
            <a:r>
              <a:t>    │   SCAN      │  → Trivy/Grype vulnerability scan</a:t>
            </a:r>
            <a:br/>
            <a:r>
              <a:t>    └──────┬──────┘</a:t>
            </a:r>
            <a:br/>
            <a:r>
              <a:t>           │</a:t>
            </a:r>
            <a:br/>
            <a:r>
              <a:t>           ▼</a:t>
            </a:r>
            <a:br/>
            <a:r>
              <a:t>    ┌─────────────┐</a:t>
            </a:r>
            <a:br/>
            <a:r>
              <a:t>    │   SBOM      │  → Generate Software Bill of Materials</a:t>
            </a:r>
            <a:br/>
            <a:r>
              <a:t>    └──────┬──────┘</a:t>
            </a:r>
            <a:br/>
            <a:r>
              <a:t>           │</a:t>
            </a:r>
            <a:br/>
            <a:r>
              <a:t>           ▼</a:t>
            </a:r>
            <a:br/>
            <a:r>
              <a:t>    ┌─────────────┐</a:t>
            </a:r>
            <a:br/>
            <a:r>
              <a:t>    │   TAG       │  → v1.2.3 + git SHA + build number</a:t>
            </a:r>
            <a:br/>
            <a:r>
              <a:t>    └──────┬──────┘</a:t>
            </a:r>
            <a:br/>
            <a:r>
              <a:t>           │</a:t>
            </a:r>
            <a:br/>
            <a:r>
              <a:t>           ▼</a:t>
            </a:r>
            <a:br/>
            <a:r>
              <a:t>    ┌─────────────┐</a:t>
            </a:r>
            <a:br/>
            <a:r>
              <a:t>    │   PUSH      │  → docker push to registry</a:t>
            </a:r>
            <a:br/>
            <a:r>
              <a:t>    └──────┬──────┘</a:t>
            </a:r>
            <a:br/>
            <a:r>
              <a:t>           │</a:t>
            </a:r>
            <a:br/>
            <a:r>
              <a:t>           ▼</a:t>
            </a:r>
            <a:br/>
            <a:r>
              <a:t>    ┌─────────────┐</a:t>
            </a:r>
            <a:br/>
            <a:r>
              <a:t>    │  DEPLOY     │  → Kubernetes / Docker Swarm / Compose</a:t>
            </a:r>
            <a:br/>
            <a:r>
              <a:t>    └──────┬──────┘</a:t>
            </a:r>
            <a:br/>
            <a:r>
              <a:t>           │</a:t>
            </a:r>
            <a:br/>
            <a:r>
              <a:t>           ▼</a:t>
            </a:r>
            <a:br/>
            <a:r>
              <a:t>    ┌─────────────┐</a:t>
            </a:r>
            <a:br/>
            <a:r>
              <a:t>    │  VERIFY     │  → Health checks, smoke tests</a:t>
            </a:r>
            <a:br/>
            <a:r>
              <a:t>    └─────────────┘</a:t>
            </a:r>
            <a:br/>
            <a:r>
              <a:t>        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DOCKER + GITHUB ACTIONS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29 — GITHUB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GitHub Actions — Docker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name: Build and Push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on: [push]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jobs: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build: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runs-on: ubuntu-latest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steps: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- uses: actions/checkout@v4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- uses: docker/setup-buildx-action@v3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- uses: docker/login-action@v3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with: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username: ${{ secrets.DOCKERHUB_USERNAME }}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password: ${{ secrets.DOCKERHUB_TOKEN }}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- uses: docker/build-push-action@v5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with: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push: true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tags: user/app:${{ github.sha }}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cache-from: type=gha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cache-to: type=gha,mode=max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TROUBLESHOOTING MASTERCLASS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30 —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Scenario 1: Container Exits Immediately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SYMPTOM: docker run myapp → exits immediately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DIAGNOSIS: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ps -a                    # Find exited container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logs &lt;container&gt;         # View output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inspect &lt;container&gt;      # Check exit code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COMMON CAUSES: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CMD/ENTRYPOINT error → Check logs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Missing dependency → Check logs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Wrong working directory → Check WORKDIR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No foreground process → Use -d or run interactive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FIX: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Run with -it to see error: docker run -it myapp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Check CMD/ENTRYPOINT in Dockerfile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30 —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Scenario 2: Port Not Accessible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SYMPTOM: Container running, but can't connect to port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DIAGNOSIS: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port &lt;container&gt;         # Check port mappings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inspect &lt;container&gt;      # Full network config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curl localhost:8080             # Test from host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exec &lt;container&gt; netstat -tlnp  # Inside container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COMMON CAUSES: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App binding to 127.0.0.1 (not 0.0.0.0)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Wrong port in -p flag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Firewall blocking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App not started yet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FIX: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App must bind to 0.0.0.0, not 127.0.0.1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Verify: docker run -p 8080:8080 myapp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30 —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Scenario 3: Container Can't Reach Another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SYMPTOM: web can't connect to database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DIAGNOSIS: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network inspect &lt;network&gt;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exec web ping database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exec web nslookup database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exec web cat /etc/resolv.conf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COMMON CAUSES: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Containers on different networks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DNS resolution failing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App using hardcoded IP instead of name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Firewall rules blocking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FIX: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Use custom bridge network for DNS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Connect containers: docker network connect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Verify app uses service name, not IP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30 —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Scenario 4: Permission Denied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SYMPTOM: Container can't write to volume or file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DIAGNOSIS: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exec &lt;container&gt; ls -la /data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exec &lt;container&gt; id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inspect &lt;volume&gt;         # Check mount point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COMMON CAUSES: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Running as non-root, volume owned by root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UID mismatch between host and container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Read-only filesystem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FIX: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Match UIDs: docker run --user $(id -u):$(id -g)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Fix volume permissions: chown on host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Initialize volume with correct ownership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30 —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Scenario 5: Image Build Too Slow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SYMPTOM: docker build takes minutes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DIAGNOSIS: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build --progress=plain .  # Verbose output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Check .dockerignore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system df                 # Disk usage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COMMON CAUSES: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Large build context (node_modules, .git)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No .dockerignore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Wrong layer ordering (frequent changes first)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No cache mounts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FIX: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Create .dockerignore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Reorder Dockerfile for cache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Use BuildKit cache mounts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Use remote cache in CI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30 —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Scenario 6: Image Too Large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SYMPTOM: Image size &gt; 1GB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DIAGNOSIS: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history myimage           # Layer sizes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buildx du                 # Build cache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COMMON CAUSES: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Large base image (ubuntu vs alpine)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Build dependencies in final image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No multi-stage build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Copying unnecessary files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FIX: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Use minimal base image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Multi-stage build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.dockerignore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Combine RUN commands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Clean package caches in same layer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30 —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Troubleshooting Decision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Container won't start?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docker logs + docker inspect ExitCode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Can't connect to port?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docker port + check app binds to 0.0.0.0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Containers can't communicate?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Same network? + DNS working?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Permission denied?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UID/GID match? + Volume permissions?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Build slow?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.dockerignore + layer ordering + cache?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Image too large?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Multi-stage + minimal base + cleanup?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OOM / CPU issues?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docker stats + resource limits set?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DOCKER INTERNALS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31 — INTERNALS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Container Internals —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After: docker run nginx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1. CLI → API request to dockerd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2. dockerd resolves image, creates container spec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3. containerd unpacks image layers to snapshot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4. containerd creates network namespace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5. containerd creates mount namespace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6. containerd invokes runc with OCI runtime spec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7. runc creates PID namespace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8. runc sets up cgroups (CPU, memory, PIDs)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9. runc applies capabilities and seccomp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10. runc executes entrypoint as PID 1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11. Application running, isolated from host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LINUX NAMESPACES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32 — NAMESPACES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Linux Namespaces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Namespaces provide ISOLATION for containers.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7 NAMESPACE TYPES: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PID  → Process isolation (container sees own PIDs)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NET  → Network isolation (own interfaces, routes)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MNT  → Filesystem isolation (own mount points)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UTS  → Hostname/domain isolation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IPC  → Inter-process communication isolation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USER → User/group ID isolation (rootless Docker)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CGROUP → Cgroup hierarchy isolation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Each container gets its own set of namespaces.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Host sees all; container sees only its own.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32 — NAMESPACES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PID Namespace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PID namespace isolates process IDs.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HOST VIEW: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PID 1    → systemd/init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PID 100  → dockerd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PID 200  → container A process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PID 300  → container B process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CONTAINER A VIEW: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PID 1    → Container's main process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PID 2    → Child process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CONTAINER B VIEW: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PID 1    → Container's main process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Container cannot see or signal host processes.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Container PIDs are namespaced.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32 — NAMESPACES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Network Namespace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Network namespace isolates network stack.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EACH NETWORK NAMESPACE HAS: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Own network interfaces (lo, eth0, etc.)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Own routing table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Own ARP table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Own iptables rules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Own sockets (TCP/UDP)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CONTAINER NETWORKING: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veth pair connects container to host bridge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Container sees eth0 (actually veth peer)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NAT for outbound traffic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host NETWORK MODE: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Container shares host network namespace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No isolation, but no overhead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32 — NAMESPACES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Mount Namespace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Mount namespace isolates filesystem mounts.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CONTAINER SEES: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Own root filesystem (from image layers)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Own /proc, /sys, /dev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Mounted volumes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CONTAINER CANNOT SEE: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Host's other mount points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Other containers' filesystems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MOUNT PROPAGATION: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private → Mounts don't propagate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shared → Mounts propagate between namespaces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This is why container can't access host /etc/passwd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unless explicitly bind-mounted.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CGROUPS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33 — CGROUPS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cgroups — Resource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cgroups (control groups) provide RESOURCE LIMITS.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CGROUP SUBSYSTEMS: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cpu → CPU time allocation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run --cpus=1.5 myapp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memory → Memory limits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run --memory=512m myapp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pids → Process count limit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run --pids-limit=100 myapp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blkio → Block I/O throttling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docker run --device-read-bps /dev/sda:10mb myapp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cgroups v2 (modern): Unified hierarchy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cgroups v1 (legacy): Separate hierarchies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33 — CGROUPS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cgroup Enforcement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WHAT HAPPENS WHEN LIMITS ARE EXCEEDED?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MEMORY: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OOM killer terminates container processes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Exit code 137 (128 + 9 = SIGKILL)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CPU: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Throttling (container waits for CPU)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Not killed, just slower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PIDS: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fork() fails with EAGAIN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Prevents fork bombs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MONITORING: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stats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cat /sys/fs/cgroup/memory/docker/&lt;id&gt;/memory.usage_in_bytes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PROCESSES AND PID 1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34 — PID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PID 1 — The Init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The main container process runs as PID 1.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LINUX PID 1 SPECIAL BEHAVIOR: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Default signal handler ignores most signals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Must explicitly handle SIGTERM, SIGINT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Must reap zombie child processes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PROBLEM: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CMD python app.py  # Shell form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/bin/sh is PID 1, doesn't forward signals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Container won't shut down gracefully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SOLUTION 1 — Exec form: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CMD ['python', 'app.py']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python is PID 1, handles signals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SOLUTION 2 — Init wrapper: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ENTRYPOINT ['tini', '--']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CMD ['python', 'app.py']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34 — PID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Signal Handling in Containers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GRACEFUL SHUTDOWN: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stop sends SIGTERM, waits 10s, then SIGKILL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APPLICATION MUST: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1. Handle SIGTERM (not just SIGINT)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2. Close connections cleanly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3. Flush logs/buffers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4. Exit promptly (&lt; 10 seconds)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PYTHON EXAMPLE: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import signal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import sys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def handle_sigterm(signum, frame):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print('Shutting down...')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sys.exit(0)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signal.signal(signal.SIGTERM, handle_sigterm)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NODE.JS: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process.on('SIGTERM', () =&gt; { process.exit(0) })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FILESYSTEM INTERNALS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35 — FS INTERNALS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Container Filesystem Internals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IMAGE LAYERS (Read-only):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Layer 0: base OS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Layer 1: packages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Layer 2: application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Layer 3: config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CONTAINER LAYER (Writable):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Copy-on-write layer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Changes stored here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Discarded on container removal (unless volume)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OVERLAYFS: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lowerdir = image layers (stacked)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upperdir = container writable layer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merged = what container sees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MOUNT NAMESPACE: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Container has own mount table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/ is the merged OverlayFS view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NETWORK INTERNALS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36 — NETWORK INTERNALS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Container Network Internals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PACKET FLOW: Client → Container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1. Client sends packet to host:8080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2. Host iptables DNAT: 8080 → container_IP:80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3. veth pair forwards to container network namespace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4. Container receives on eth0:80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5. Application processes request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KEY COMPONENTS: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Network namespace per container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veth pair (virtual ethernet)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Linux bridge on host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iptables NAT rules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Embedded DNS (127.0.0.11)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DOCKER CONTEXTS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37 — CONTEXTS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Docker Contexts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context allows connecting to remote Docker hosts.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context ls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docker context create remote --docker 'host=tcp://server:2376'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context use remote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SSH CONTEXT: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docker context create myserver --docker 'host=ssh://user@server'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Uses SSH for secure remote access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No need to expose Docker API publicly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SECURITY: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Remote Docker API = full host access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Use TLS or SSH for remote connections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Never expose 2375/2376 publicly without auth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ROOTLESS DOCKER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38 — ROOTLESS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Rootless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Rootless Docker runs without root privileges.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ROOTFUL (Default):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dockerd runs as root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Full access to host resources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Standard installation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ROOTLESS: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dockerd runs as unprivileged user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Uses user namespaces for root emulation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Limited capabilities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TRADEOFFS: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✓ Enhanced security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✓ No root compromise risk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✗ Some features unavailable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✗ Slightly more complex setup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USE CASES: Shared servers, security-conscious environments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DISTROLESS CONTAINERS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39 — DISTROLESS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Distroless Images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FROM gcr.io/distroless/python3-debian11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DISTROLESS CHARACTERISTICS: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No package manager (apt, apk, yum)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No shell (/bin/sh, /bin/bash)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Minimal set of libraries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Only runtime dependencies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BENEFITS: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Dramatically reduced attack surface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No way to install packages at runtime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Smaller images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DRAWBACKS: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No debugging shell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Must debug from host or sidecar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USE FOR: Production deployments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USE debian-slim FOR: Development/debugging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MULTI-ARCH IMAGES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40 — MULTI-ARCH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Multi-Architecture Images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buildx build --platform linux/amd64,linux/arm64 -t myapp 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WHY MULTI-ARCH?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Developer laptop: arm64 (M1/M2 Mac)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Production server: amd64 (x86_64)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Same image tag works everywhere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MANIFEST LIST: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Single tag points to multiple architectures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Docker automatically pulls correct variant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BUILDING: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buildx create --use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buildx build --platform linux/amd64,linux/arm64 \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--push -t user/app:latest 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ARCHITECTURE MISMATCH: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Error: exec format error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Wrong architecture image pulled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OCI SPECIFICATIONS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41 — OCI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Open Container Initiative (OCI)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OCI defines container STANDARDS (not owned by Docker).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OCI IMAGE SPECIFICATION: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How images are structured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Manifest, config, layers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Content addressable (by digest)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OCI RUNTIME SPECIFICATION: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How to run containers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Runtime lifecycle, state machine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Hooks, namespaces, cgroups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OCI DISTRIBUTION SPECIFICATION: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How to distribute images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Registry HTTP API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Authentication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Docker, containerd, Kubernetes all implement OCI specs.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41 — OCI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OCI Image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OCI IMAGE = MANIFEST + CONFIG + LAYERS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MANIFEST: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Lists all layers (by digest)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Points to config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Platform info (os, architecture)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CONFIG: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Entrypoint, CMD, ENV, EXPOSE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Working directory, user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History (layer metadata)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LAYERS: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Tarballs of filesystem changes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Content-addressable (SHA256 digest)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Shared across images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DOCKER VS CONTAINERD VS CRI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42 — RUNTIMES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D4FF"/>
                </a:solidFill>
              </a:defRPr>
            </a:pPr>
            <a:r>
              <a:t>Runtime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Runtime</a:t>
                      </a:r>
                    </a:p>
                  </a:txBody>
                  <a:tcPr>
                    <a:solidFill>
                      <a:srgbClr val="9D4E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9D4E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K8s Compatible</a:t>
                      </a:r>
                    </a:p>
                  </a:txBody>
                  <a:tcPr>
                    <a:solidFill>
                      <a:srgbClr val="9D4ED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Docker Engine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Full platform + daemon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Via dockershim (deprecated)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containerd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Container runtime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Yes (via CRI plugin)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CRI-O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Kubernetes-native runtime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Yes (native)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runc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OCI runtime executor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N/A (used by others)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CRI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Kubernetes runtime interface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Specification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42 — RUNTIMES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Kubernetes Without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Kubernetes does NOT require Docker Engine.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KUBERNETES RUNTIME ARCHITECTURE: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kubelet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Node agent that manages pods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Implements CRI (Container Runtime Interface)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containerd (or CRI-O)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Implements CRI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Manages container lifecycle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runc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OCI runtime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Actually creates container processes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Engine is OPTIONAL for development convenience.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Production Kubernetes uses containerd directly.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DOCKER AND KUBERNETES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43 — KUBERNETES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Docker → Kubernetes Image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Developer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↓ docker build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Image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↓ docker push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Container Registry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↓ imagePullPolicy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Kubernetes Pod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↓ kubelet + CRI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containerd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↓ OCI runtime spec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runc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↓ Linux namespaces + cgroups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Running Container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43 — KUBERNETES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ImagePullBackOff — Troubleshooting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kubectl describe pod &lt;pod&gt;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COMMON CAUSES: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ErrImagePull / ImagePullBackOff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Image doesn't exist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Wrong tag/digest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Registry authentication failure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Architecture mismatch (amd64 vs arm64)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FIXES: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Verify image exists: docker pull &lt;image&gt;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Check credentials: imagePullSecrets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Verify architecture: docker buildx inspect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Check registry permissions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knowledge directly applies to K8s troubleshooting!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KUBERNETES TROUBLESHOOTING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44 — K8S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CrashLoopBackOff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Pod keeps crashing and restarting.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DIAGNOSIS: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kubectl logs &lt;pod&gt; --previous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kubectl describe pod &lt;pod&gt;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COMMON CAUSES: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Application startup error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Missing environment variables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Database connection failure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Permission denied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OOM killed (exit 137)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FIX: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Check logs from previous instance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Verify ConfigMaps/Secrets mounted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Check resource limits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Verify image architecture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PERFORMANCE ENGINEERING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45 —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Performance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BUILD SPEED: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.dockerignore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Layer ordering for cache hits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BuildKit parallel builds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Remote caching in CI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IMAGE SIZE: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Multi-stage builds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Minimal base images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Combine RUN commands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STARTUP TIME: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Smaller images = faster pulls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Pre-pulled images on nodes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Optimize application startup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RUNTIME: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Resource limits prevent noisy neighbors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Monitor with docker stats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DISK MANAGEMENT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46 — DISK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Docker Disk Cleanup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system df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Show disk usage by images, containers, volumes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system prune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Remove unused data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-a flag removes all unused images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image prune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Remove dangling images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container prune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Remove stopped containers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volume prune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Remove unused volumes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builder prune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Clear BuildKit cache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WARNING: These are destructive operations!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Always verify before running with -a or --volumes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DOCKER SWARM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47 — SWARM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Docker Swarm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Swarm is Docker's native clustering/orchestration.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FEATURES: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Service abstraction (desired state)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Automatic scaling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Rolling updates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Overlay networking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Secrets management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COMMANDS: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swarm init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service create --replicas 3 nginx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service scale web=5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docker service update --image nginx:1.21 web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POSITIONING: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Historical alternative to Kubernetes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Still maintained but limited adoption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Kubernetes is industry standard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PRODUCTION BEST PRACTICES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48 —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Production Docker Standard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IMAGE: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✓ Multi-stage build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✓ Minimal base image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✓ Non-root user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✓ Healthcheck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✓ Scanned for vulnerabilities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RUNTIME: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✓ Resource limits (--memory, --cpus, --pids-limit)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✓ --read-only filesystem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✓ --cap-drop=ALL + minimal --cap-add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✓ --security-opt=no-new-privileges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✓ Custom bridge network (not default)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ORCHESTRATION: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✓ Restart policy: unless-stopped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✓ Logging driver configured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✓ Secrets from external manager (not env vars)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COMPLETE PRODUCTION DOCKERFILE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49 — PRODUCTION DOCKERFILE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Production Dockerfile —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# syntax=docker/dockerfile:1.4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FROM python:3.11-slim AS builder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WORKDIR /app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COPY requirements.txt 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RUN pip install --user --no-cache-dir -r requirements.txt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FROM python:3.11-slim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RUN useradd -m -u 1000 appuser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WORKDIR /app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COPY --from=builder /root/.local /root/.local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COPY --chown=appuser:appuser . .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ENV PATH=/root/.local/bin:$PATH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USER appuser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HEALTHCHECK --interval=30s CMD python -c 'import requests; requests.get("http://localhost:8080/health")'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EXPOSE 8080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CMD ['python', 'app.py']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REAL-WORLD PROJECT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50 —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Real-World Microservices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ARCHITECTURE: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Frontend (React) → port 3000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↓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Auth Service (Node.js) → port 4000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↓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Grievance Service (Python) → port 5000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↓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Audit Service (Go) → port 6000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↓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PostgreSQL + Redis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PIPELINE: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GitHub → Actions → Build → Scan → SBOM → Registry → K8s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This project demonstrates all concepts in the course.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51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HANDS-ON LABS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51 — LABS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Lab Series — 25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Lab 1-5: Container Basics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Run, inspect, lifecycle, logs, exec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Lab 6-10: Networking &amp; Storage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Custom networks, DNS, volumes, bind mounts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Lab 11-15: Dockerfile Mastery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Multi-stage, cache optimization, security, healthchecks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Lab 16-20: Production Patterns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CI/CD, registry, hardening, monitoring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Lab 21-25: Kubernetes Bridge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Image flow, troubleshooting, runtime internals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51 — LABS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Lab Example: Multi-Stage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OBJECTIVE: Build optimized Python application image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PREREQUISITES: Docker installed, basic Dockerfile knowledge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TASKS: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1. Create single-stage Dockerfile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2. Measure image size: docker images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3. Convert to multi-stage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4. Measure size reduction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5. Verify application runs correctly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EXPECTED RESULT: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Single-stage: ~800MB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Multi-stage: ~150MB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INTERVIEW QUESTION: Why does multi-stage reduce size?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52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FAILURE ENGINEERING LABS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52 — FAILURE LABS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Failure Labs — 15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1. Wrong port binding (127.0.0.1 vs 0.0.0.0)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2. Wrong image tag (ImagePullBackOff)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3. Broken CMD/ENTRYPOINT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4. Missing dependency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5. Permission denied on volume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6. Bad network configuration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7. DNS failure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8. Healthcheck misconfiguration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9. OOM (exit 137)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10. CPU starvation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11. Missing environment variable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12. Registry authentication failure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13. Architecture mismatch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14. Secret leak in image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15. Fork bomb (pids-limit)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52 — FAILURE LABS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Failure Lab Example: Wrong 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FAILURE: Container starts but port unreachable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SYMPTOMS: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docker ps shows container running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curl localhost:8080 → connection refused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COMMANDS: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port &lt;container&gt;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exec &lt;container&gt; netstat -tlnp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logs &lt;container&gt;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ROOT CAUSE: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Application binds to 127.0.0.1 inside container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Only accessible from within container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FIX: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Change app to bind to 0.0.0.0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PREVENTION: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Healthcheck catches this in CI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INTERVIEW MASTERY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53 — INTERVIEW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Interview Questions — Beginner (Sample)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Q: What is Docker?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A: Docker is a platform for packaging, distributing, and running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applications in isolated containers using Linux kernel features.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Q: Container vs VM?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A: Containers share the host kernel, no guest OS. VMs have full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guest OS + hypervisor. Containers: faster, denser, lighter.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Q: Image vs container?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A: Image is read-only template (layers + config). Container is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running instance with writable layer on top of image.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Q: What does docker run do?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A: Creates container from image, sets up namespaces/cgroups,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invokes OCI runtime to start the process.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53 — INTERVIEW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Interview Questions — Intermediate (Sample)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Q: CMD vs ENTRYPOINT?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A: CMD provides default arguments (easily overridden).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ENTRYPOINT sets default executable (harder to override).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Common pattern: ENTRYPOINT for app, CMD for defaults.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Q: COPY vs ADD?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A: COPY is simple file copy. ADD has extra features (URL download,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auto-extract tar). Use COPY by default; ADD only when needed.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Q: Why custom Docker network?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A: Automatic DNS resolution by container name, better isolation,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not all containers on same network. Default bridge lacks DNS.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Q: Volume vs bind mount?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A: Volume: Docker-managed, survives container removal.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Bind mount: Direct host path mapping, for development/config.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53 — INTERVIEW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Interview Questions — Advanced (Sample)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Q: What are namespaces?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A: Linux kernel feature for isolating processes. 7 types: PID,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NET, MNT, UTS, IPC, USER, CGROUP. Each container gets own set.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Q: What are cgroups?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A: Control groups for resource limiting (CPU, memory, PIDs, I/O).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Enforce quotas, prevent noisy neighbor problems.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Q: What is OverlayFS?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A: Union filesystem enabling Docker layers. lowerdir (image),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upperdir (container writes), merged view. Copy-on-write.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Q: Why non-root containers?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A: Principle of least privilege. Container compromise doesn't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grant host root. Required for security compliance.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53 — INTERVIEW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Interview Questions — Senior (Sample)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Q: Explain container startup from docker run to PID 1.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A: CLI → dockerd → containerd (unpack, snapshot) → runc (create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namespaces, cgroups, capabilities) → exec entrypoint as PID 1.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Q: How does Kubernetes use containerd without Docker?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A: kubelet implements CRI, calls containerd directly via CRI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plugin. containerd calls runc. Docker Engine not involved.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Q: How do you debug CrashLoopBackOff?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A: kubectl logs --previous, check ExitCode, verify image arch,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check env vars/secrets, verify resource limits, check probes.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Q: Design secure production container strategy.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A: Non-root user, --cap-drop=ALL, read-only FS, resource limits,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seccomp/AppArmor, scanned images, signed images, minimal base.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54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ARCHITECTURE SCENARIOS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54 —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Scenario: Production Python API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REQUIREMENTS: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99.9% uptime, auto-scaling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Zero-downtime deployments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Secure (SOC2 compliant)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Multi-region deployment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ARCHITECTURE DECISIONS: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Multi-stage Dockerfile with distroless runtime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Non-root user + read-only FS + dropped capabilities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Healthchecks + readiness/liveness probes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GitOps with ArgoCD for deployments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Image signing + SBOM in CI pipeline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</a:defRPr>
            </a:pPr>
            <a:r>
              <a:t>    → Canary deployments with Flagger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TRADEOFFS: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Security vs debuggability (distroless harder to debug)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CHEAT SHEETS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55 — CHEAT SHEETS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Docker Command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CONTAINERS: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run [opts] image    docker start/stop/restart &lt;name&gt;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ps [-a]             docker rm [-f] &lt;name&gt;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logs [-f] &lt;name&gt;    docker exec [-it] &lt;name&gt; cmd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inspect &lt;name&gt;      docker stats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IMAGES: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build -t tag .      docker pull/push &lt;image&gt;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images              docker rmi &lt;image&gt;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tag src dst         docker history &lt;image&gt;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NETWORKS: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network create &lt;n&gt;  docker network ls/inspect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network connect &lt;n&gt; &lt;container&gt;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VOLUMES: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volume create &lt;v&gt;   docker volume ls/inspect/rm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SYSTEM: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docker system df/prune     docker version/info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55 — CHEAT SHEETS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Docker Security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SECURE RUNTIME FLAGS: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--user 1000:1000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--read-only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--cap-drop=ALL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--cap-add=NET_BIND_SERVICE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--security-opt=no-new-privileges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--pids-limit=100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--memory=512m --cpus=1.0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DOCKERFILE: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FROM minimal:image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RUN useradd -u 1000 appuser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USER appuser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HEALTHCHECK ...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NEVER: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✗ --privileged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✗ ENV PASSWORD=secret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✗ COPY secrets/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✗ FROM latest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PART 56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FINAL MASTERY MAP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56 —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D4FF"/>
                </a:solidFill>
              </a:defRPr>
            </a:pPr>
            <a:r>
              <a:t>Docker Mastery Progression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11430000" cy="4846320"/>
          </a:xfrm>
          <a:prstGeom prst="roundRect">
            <a:avLst/>
          </a:prstGeom>
          <a:solidFill>
            <a:srgbClr val="0A0A15"/>
          </a:solidFill>
          <a:ln w="127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0FF88"/>
                </a:solidFill>
                <a:latin typeface="Courier New"/>
              </a:defRPr>
            </a:pPr>
            <a:br/>
            <a:r>
              <a:t>    BEGINNER</a:t>
            </a:r>
            <a:br/>
            <a:r>
              <a:t>        ↓ CLI Fundamentals</a:t>
            </a:r>
            <a:br/>
            <a:r>
              <a:t>    CONTAINERS</a:t>
            </a:r>
            <a:br/>
            <a:r>
              <a:t>        ↓ Lifecycle, Run, Inspect</a:t>
            </a:r>
            <a:br/>
            <a:r>
              <a:t>    IMAGES</a:t>
            </a:r>
            <a:br/>
            <a:r>
              <a:t>        ↓ Layers, Tags, Digests</a:t>
            </a:r>
            <a:br/>
            <a:r>
              <a:t>    DOCKERFILE</a:t>
            </a:r>
            <a:br/>
            <a:r>
              <a:t>        ↓ Instructions, Cache, Multi-Stage</a:t>
            </a:r>
            <a:br/>
            <a:r>
              <a:t>    NETWORKING</a:t>
            </a:r>
            <a:br/>
            <a:r>
              <a:t>        ↓ Bridge, DNS, Ports</a:t>
            </a:r>
            <a:br/>
            <a:r>
              <a:t>    STORAGE</a:t>
            </a:r>
            <a:br/>
            <a:r>
              <a:t>        ↓ Volumes, Bind Mounts</a:t>
            </a:r>
            <a:br/>
            <a:r>
              <a:t>    COMPOSE</a:t>
            </a:r>
            <a:br/>
            <a:r>
              <a:t>        ↓ Multi-Container Apps</a:t>
            </a:r>
            <a:br/>
            <a:r>
              <a:t>    SECURITY</a:t>
            </a:r>
            <a:br/>
            <a:r>
              <a:t>        ↓ Non-Root, Capabilities, Scanning</a:t>
            </a:r>
            <a:br/>
            <a:r>
              <a:t>    BUILDKIT</a:t>
            </a:r>
            <a:br/>
            <a:r>
              <a:t>        ↓ Parallel, Secrets, Multi-Arch</a:t>
            </a:r>
            <a:br/>
            <a:r>
              <a:t>    REGISTRY</a:t>
            </a:r>
            <a:br/>
            <a:r>
              <a:t>        ↓ Push, Pull, Tagging</a:t>
            </a:r>
            <a:br/>
            <a:r>
              <a:t>    CI/CD</a:t>
            </a:r>
            <a:br/>
            <a:r>
              <a:t>        ↓ Pipelines, GitHub Actions</a:t>
            </a:r>
            <a:br/>
            <a:r>
              <a:t>    INTERNALS</a:t>
            </a:r>
            <a:br/>
            <a:r>
              <a:t>        ↓ Namespaces, cgroups, OverlayFS</a:t>
            </a:r>
            <a:br/>
            <a:r>
              <a:t>    OCI</a:t>
            </a:r>
            <a:br/>
            <a:r>
              <a:t>        ↓ Specifications, Standards</a:t>
            </a:r>
            <a:br/>
            <a:r>
              <a:t>    CONTAINER RUNTIMES</a:t>
            </a:r>
            <a:br/>
            <a:r>
              <a:t>        ↓ containerd, runc, CRI</a:t>
            </a:r>
            <a:br/>
            <a:r>
              <a:t>    KUBERNETES</a:t>
            </a:r>
            <a:br/>
            <a:r>
              <a:t>        ↓ Image Flow, Runtime Bridge</a:t>
            </a:r>
            <a:br/>
            <a:r>
              <a:t>    PRODUCTION</a:t>
            </a:r>
            <a:br/>
            <a:r>
              <a:t>        ↓ Best Practices, Architecture</a:t>
            </a:r>
            <a:br/>
            <a:r>
              <a:t>        ↓</a:t>
            </a:r>
            <a:br/>
            <a:r>
              <a:t>    DOCKER EXPERT</a:t>
            </a:r>
            <a:br/>
            <a:r>
              <a:t>        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99"/>
                </a:solidFill>
              </a:defRPr>
            </a:pPr>
            <a:r>
              <a:t>PART 56 —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30/60/90 Day Learning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DAYS 1-30: FOUNDATIONS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Parts 0-7: Roadmap, What is Docker, Architecture,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Installation, CLI, docker run, Lifecycle, Images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Labs 1-10, Beginner interview questions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DAYS 31-60: DEEP DIVE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Parts 8-24: Layers, OverlayFS, Dockerfile, Multi-Stage,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BuildKit, Storage, Networking, DNS, Env, Secrets,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Security, Healthchecks, Logging, Compose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Labs 11-20, Intermediate interview questions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DAYS 61-90: PRODUCTION + KUBERNETES</a:t>
            </a:r>
          </a:p>
          <a:p>
            <a:pPr>
              <a:spcAft>
                <a:spcPts val="400"/>
              </a:spcAft>
              <a:defRPr sz="1500" b="1">
                <a:solidFill>
                  <a:srgbClr val="FFA500"/>
                </a:solidFill>
              </a:defRPr>
            </a:pPr>
            <a:r>
              <a:t>Parts 25-56: Production, CI/CD, Troubleshooting,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Internals, Namespaces, cgroups, OCI, K8s, Performance,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Labs 21-25 + Failure Labs, Advanced/Senior questions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</a:defRPr>
            </a:pPr>
            <a:r>
              <a:t>CONGRATULATIONS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CCCDD"/>
                </a:solidFill>
              </a:defRPr>
            </a:pPr>
            <a:r>
              <a:t>You now have the knowledge to design, build, secure, debug,</a:t>
            </a:r>
            <a:br/>
            <a:r>
              <a:t>optimize, operate, and explain Docker at a professional level.</a:t>
            </a:r>
            <a:br/>
            <a:br/>
            <a:r>
              <a:t>Complete the labs. Master the interview questions.</a:t>
            </a:r>
            <a:br/>
            <a:r>
              <a:t>Build production systems with confidence.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