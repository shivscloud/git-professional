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0312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58A6FF"/>
                </a:solidFill>
              </a:defRPr>
            </a:pPr>
            <a:r>
              <a:t>DOCKER: ZERO TO PROFESSIONAL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C9D1D9"/>
                </a:solidFill>
              </a:defRPr>
            </a:pPr>
            <a:r>
              <a:t>Complete Deep Dive — Production Engineering Focus</a:t>
            </a:r>
            <a:br/>
            <a:r>
              <a:t>Author: Rajesh | 250+ Slides | 60+ Labs | 250+ Interview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 | DOCKER: ZERO TO PROFESSIONAL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</a:defRPr>
            </a:pPr>
            <a:r>
              <a:t>PART 0 — ROADMAP | Rajesh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84048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Course Philosophy — Production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This course is designed for engineers who will run Docker in production.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D29922"/>
                </a:solidFill>
              </a:defRPr>
            </a:pPr>
            <a:r>
              <a:t>Every topic answers: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What is it?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Why does it exist?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How does it work internally?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What can go wrong?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How do production engineers solve this?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What are the security implications?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What interview questions will I face?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We don't just teach commands — we teach production patterns used at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FAANG, unicorns, and high-scale infrastructure teams.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 | PART 0 — ROADMAP | Rajesh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D29922"/>
                </a:solidFill>
              </a:defRPr>
            </a:pPr>
            <a:r>
              <a:t>PART 0A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DOCKERFILE PRODUCTION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</a:defRPr>
            </a:pPr>
            <a:r>
              <a:t>PART 0A — PRODUCTION DOCKERFILE | Rajesh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84048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Production Dockerfile — The Real-World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29922"/>
                </a:solidFill>
              </a:defRPr>
            </a:pPr>
            <a:r>
              <a:t>How production engineers at scale actually write Dockerfiles: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1. MULTI-STAGE BY DEFAULT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Never build in a single stage for compiled languages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Builder stage compiles, runtime stage is minimal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2. LAYER ORDERING IS EVERYTHING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Dependencies before code (cache optimization)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Most stable → least stable ordering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3. NON-ROOT IS NON-NEGOTIABLE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Every production container runs as non-root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UID/GID consistency across environments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4. HEALTHCHECKS ARE MANDATORY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Orchestrators need health signals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Prevents traffic to unhealthy instances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 | PART 0A — PRODUCTION DOCKERFILE | Rajesh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</a:defRPr>
            </a:pPr>
            <a:r>
              <a:t>PART 0A — PRODUCTION DOCKERFILE | Rajesh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84048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8A6FF"/>
                </a:solidFill>
              </a:defRPr>
            </a:pPr>
            <a:r>
              <a:t>Production Dockerfile — Python (Real-World Pattern)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60120"/>
            <a:ext cx="11612880" cy="5349240"/>
          </a:xfrm>
          <a:prstGeom prst="roundRect">
            <a:avLst/>
          </a:prstGeom>
          <a:solidFill>
            <a:srgbClr val="0D1117"/>
          </a:solidFill>
          <a:ln w="9525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900">
                <a:solidFill>
                  <a:srgbClr val="C9D1D9"/>
                </a:solidFill>
                <a:latin typeface="Courier New"/>
              </a:defRPr>
            </a:pPr>
            <a:r>
              <a:t># syntax=docker/dockerfile:1.4</a:t>
            </a:r>
            <a:br/>
            <a:r>
              <a:t># ═══════════════════════════════════════════════════════════════════</a:t>
            </a:r>
            <a:br/>
            <a:r>
              <a:t># STAGE 1: BUILDER — Compile dependencies, install packages</a:t>
            </a:r>
            <a:br/>
            <a:r>
              <a:t># ═══════════════════════════════════════════════════════════════════</a:t>
            </a:r>
            <a:br/>
            <a:r>
              <a:t>FROM python:3.11-slim AS builder</a:t>
            </a:r>
            <a:br/>
            <a:br/>
            <a:r>
              <a:t># Install build dependencies (will NOT be in final image)</a:t>
            </a:r>
            <a:br/>
            <a:r>
              <a:t>RUN apt-get update &amp;&amp; apt-get install -y --no-install-recommends \</a:t>
            </a:r>
            <a:br/>
            <a:r>
              <a:t>    build-essential \</a:t>
            </a:r>
            <a:br/>
            <a:r>
              <a:t>    libpq-dev \</a:t>
            </a:r>
            <a:br/>
            <a:r>
              <a:t>    &amp;&amp; rm -rf /var/lib/apt/lists/*</a:t>
            </a:r>
            <a:br/>
            <a:br/>
            <a:r>
              <a:t>WORKDIR /build</a:t>
            </a:r>
            <a:br/>
            <a:br/>
            <a:r>
              <a:t># Copy ONLY requirements first (cache optimization)</a:t>
            </a:r>
            <a:br/>
            <a:r>
              <a:t>COPY requirements.txt .</a:t>
            </a:r>
            <a:br/>
            <a:br/>
            <a:r>
              <a:t># Install to user directory (no root packages)</a:t>
            </a:r>
            <a:br/>
            <a:r>
              <a:t>RUN pip install --user --no-cache-dir --no-warn-script-location \</a:t>
            </a:r>
            <a:br/>
            <a:r>
              <a:t>    -r requirements.txt</a:t>
            </a:r>
            <a:br/>
            <a:br/>
            <a:r>
              <a:t># ═══════════════════════════════════════════════════════════════════</a:t>
            </a:r>
            <a:br/>
            <a:r>
              <a:t># STAGE 2: RUNTIME — Minimal attack surface, non-root</a:t>
            </a:r>
            <a:br/>
            <a:r>
              <a:t># ═══════════════════════════════════════════════════════════════════</a:t>
            </a:r>
            <a:br/>
            <a:r>
              <a:t>FROM python:3.11-slim</a:t>
            </a:r>
            <a:br/>
            <a:br/>
            <a:r>
              <a:t># Create non-root user with specific UID (consistency across envs)</a:t>
            </a:r>
            <a:br/>
            <a:r>
              <a:t>RUN groupadd -r -g 1000 appgroup &amp;&amp; \</a:t>
            </a:r>
            <a:br/>
            <a:r>
              <a:t>    useradd -r -u 1000 -g appgroup -s /bin/false appuser</a:t>
            </a:r>
            <a:br/>
            <a:br/>
            <a:r>
              <a:t>WORKDIR /app</a:t>
            </a:r>
            <a:br/>
            <a:br/>
            <a:r>
              <a:t># Copy only installed packages from builder (no build tools)</a:t>
            </a:r>
            <a:br/>
            <a:r>
              <a:t>COPY --from=builder --chown=appuser:appgroup \</a:t>
            </a:r>
            <a:br/>
            <a:r>
              <a:t>    /root/.local /home/appuser/.local</a:t>
            </a:r>
            <a:br/>
            <a:br/>
            <a:r>
              <a:t># Copy application code</a:t>
            </a:r>
            <a:br/>
            <a:r>
              <a:t>COPY --chown=appuser:appgroup . .</a:t>
            </a:r>
            <a:br/>
            <a:br/>
            <a:r>
              <a:t># Set PATH to include user-installed packages</a:t>
            </a:r>
            <a:br/>
            <a:r>
              <a:t>ENV PATH=/home/appuser/.local/bin:$PATH \</a:t>
            </a:r>
            <a:br/>
            <a:r>
              <a:t>    PYTHONUNBUFFERED=1 \</a:t>
            </a:r>
            <a:br/>
            <a:r>
              <a:t>    PYTHONDONTWRITEBYTECODE=1</a:t>
            </a:r>
            <a:br/>
            <a:br/>
            <a:r>
              <a:t># Switch to non-root user</a:t>
            </a:r>
            <a:br/>
            <a:r>
              <a:t>USER appuser</a:t>
            </a:r>
            <a:br/>
            <a:br/>
            <a:r>
              <a:t># Healthcheck (orchestrator requirement)</a:t>
            </a:r>
            <a:br/>
            <a:r>
              <a:t>HEALTHCHECK --interval=30s --timeout=5s --start-period=10s --retries=3 \</a:t>
            </a:r>
            <a:br/>
            <a:r>
              <a:t>    CMD python -c "import urllib.request; urllib.request.urlopen('http://localhost:8080/health').read()"</a:t>
            </a:r>
            <a:br/>
            <a:br/>
            <a:r>
              <a:t>EXPOSE 8080</a:t>
            </a:r>
            <a:br/>
            <a:br/>
            <a:r>
              <a:t># Exec form for proper signal handling</a:t>
            </a:r>
            <a:br/>
            <a:r>
              <a:t>CMD ["python", "-m", "uvicorn", "main:app", "--host", "0.0.0.0", "--port", "8080"]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 | PART 0A — PRODUCTION DOCKERFILE | Rajesh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</a:defRPr>
            </a:pPr>
            <a:r>
              <a:t>PART 0A — PRODUCTION DOCKERFILE | Rajesh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84048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Dockerfile Caching —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Docker build cache is the MOST IMPORTANT optimization lever.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D29922"/>
                </a:solidFill>
              </a:defRPr>
            </a:pPr>
            <a:r>
              <a:t>CACHE INVALIDATION RULES: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Rule 1: If instruction text changes → cache invalidated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FROM python:3.11        →  FROM python:3.12  = INVALIDATE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Rule 2: If parent layer invalidated → all child layers invalidated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Layer 0 invalidated → Layers 1,2,3,4 ALL invalidated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Rule 3: COPY invalidates if file CONTENTS change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COPY requirements.txt .  →  If requirements.txt modified = INVALIDATE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Rule 4: RUN invalidates if command string changes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RUN pip install X  →  RUN pip install Y  = INVALIDATE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PRODUCTION ENGINEERS SPEND HOURS optimizing layer order for cache.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 | PART 0A — PRODUCTION DOCKERFILE | Rajesh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</a:defRPr>
            </a:pPr>
            <a:r>
              <a:t>PART 0A — PRODUCTION DOCKERFILE | Rajesh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84048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8A6FF"/>
                </a:solidFill>
              </a:defRPr>
            </a:pPr>
            <a:r>
              <a:t>Cache Invalidation Visualization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60120"/>
            <a:ext cx="11612880" cy="5349240"/>
          </a:xfrm>
          <a:prstGeom prst="roundRect">
            <a:avLst/>
          </a:prstGeom>
          <a:solidFill>
            <a:srgbClr val="0D1117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900">
                <a:solidFill>
                  <a:srgbClr val="3FB950"/>
                </a:solidFill>
                <a:latin typeface="Courier New"/>
              </a:defRPr>
            </a:pPr>
            <a:br/>
            <a:r>
              <a:t>    OPTIMAL ORDERING (Cache-Friendly):</a:t>
            </a:r>
            <a:br/>
            <a:br/>
            <a:r>
              <a:t>    FROM python:3.11-slim</a:t>
            </a:r>
            <a:br/>
            <a:r>
              <a:t>         │ Layer 0 (rarely changes)</a:t>
            </a:r>
            <a:br/>
            <a:r>
              <a:t>         ▼</a:t>
            </a:r>
            <a:br/>
            <a:r>
              <a:t>    COPY requirements.txt .</a:t>
            </a:r>
            <a:br/>
            <a:r>
              <a:t>         │ Layer 1 (changes weekly)</a:t>
            </a:r>
            <a:br/>
            <a:r>
              <a:t>         ▼</a:t>
            </a:r>
            <a:br/>
            <a:r>
              <a:t>    RUN pip install -r requirements.txt</a:t>
            </a:r>
            <a:br/>
            <a:r>
              <a:t>         │ Layer 2 (cached if requirements unchanged)</a:t>
            </a:r>
            <a:br/>
            <a:r>
              <a:t>         ▼</a:t>
            </a:r>
            <a:br/>
            <a:r>
              <a:t>    COPY src/ src/</a:t>
            </a:r>
            <a:br/>
            <a:r>
              <a:t>         │ Layer 3 (changes daily)</a:t>
            </a:r>
            <a:br/>
            <a:r>
              <a:t>         ▼</a:t>
            </a:r>
            <a:br/>
            <a:r>
              <a:t>    CMD ["python", "app.py"]</a:t>
            </a:r>
            <a:br/>
            <a:r>
              <a:t>         │ Layer 4 (rarely changes)</a:t>
            </a:r>
            <a:br/>
            <a:br/>
            <a:r>
              <a:t>    ═══════════════════════════════════════════════════════════════</a:t>
            </a:r>
            <a:br/>
            <a:br/>
            <a:r>
              <a:t>    BAD ORDERING (Cache-Hostile):</a:t>
            </a:r>
            <a:br/>
            <a:br/>
            <a:r>
              <a:t>    FROM python:3.11-slim</a:t>
            </a:r>
            <a:br/>
            <a:r>
              <a:t>         │ Layer 0</a:t>
            </a:r>
            <a:br/>
            <a:r>
              <a:t>         ▼</a:t>
            </a:r>
            <a:br/>
            <a:r>
              <a:t>    COPY . .                    ← Changes EVERY commit!</a:t>
            </a:r>
            <a:br/>
            <a:r>
              <a:t>         │ Layer 1 (INVALIDATED EVERY BUILD)</a:t>
            </a:r>
            <a:br/>
            <a:r>
              <a:t>         ▼</a:t>
            </a:r>
            <a:br/>
            <a:r>
              <a:t>    RUN pip install -r requirements.txt</a:t>
            </a:r>
            <a:br/>
            <a:r>
              <a:t>         │ Layer 2 (INVALIDATED EVERY BUILD)</a:t>
            </a:r>
            <a:br/>
            <a:r>
              <a:t>         ▼</a:t>
            </a:r>
            <a:br/>
            <a:r>
              <a:t>    CMD ["python", "app.py"]</a:t>
            </a:r>
            <a:br/>
            <a:br/>
            <a:r>
              <a:t>    RESULT: pip install runs on EVERY build, even for code changes only!</a:t>
            </a:r>
            <a:br/>
            <a:r>
              <a:t>    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 | PART 0A — PRODUCTION DOCKERFILE | Rajesh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</a:defRPr>
            </a:pPr>
            <a:r>
              <a:t>PART 0A — PRODUCTION DOCKERFILE | Rajesh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84048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8A6FF"/>
                </a:solidFill>
              </a:defRPr>
            </a:pPr>
            <a:r>
              <a:t>Cache Optimization — Real Production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60120"/>
            <a:ext cx="11612880" cy="5349240"/>
          </a:xfrm>
          <a:prstGeom prst="roundRect">
            <a:avLst/>
          </a:prstGeom>
          <a:solidFill>
            <a:srgbClr val="0D1117"/>
          </a:solidFill>
          <a:ln w="9525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900">
                <a:solidFill>
                  <a:srgbClr val="C9D1D9"/>
                </a:solidFill>
                <a:latin typeface="Courier New"/>
              </a:defRPr>
            </a:pPr>
            <a:r>
              <a:t># ═══════════════════════════════════════════════════════════════════</a:t>
            </a:r>
            <a:br/>
            <a:r>
              <a:t># BAD: Every code change invalidates pip install (20+ minutes wasted)</a:t>
            </a:r>
            <a:br/>
            <a:r>
              <a:t># ═══════════════════════════════════════════════════════════════════</a:t>
            </a:r>
            <a:br/>
            <a:r>
              <a:t>FROM node:18-alpine</a:t>
            </a:r>
            <a:br/>
            <a:r>
              <a:t>WORKDIR /app</a:t>
            </a:r>
            <a:br/>
            <a:r>
              <a:t>COPY . .                           # ← Changes constantly</a:t>
            </a:r>
            <a:br/>
            <a:r>
              <a:t>RUN npm ci                         # ← Runs on EVERY build</a:t>
            </a:r>
            <a:br/>
            <a:r>
              <a:t>CMD ["node", "server.js"]</a:t>
            </a:r>
            <a:br/>
            <a:br/>
            <a:br/>
            <a:r>
              <a:t># ═══════════════════════════════════════════════════════════════════</a:t>
            </a:r>
            <a:br/>
            <a:r>
              <a:t># GOOD: Dependencies cached, only code rebuilds (30 seconds)</a:t>
            </a:r>
            <a:br/>
            <a:r>
              <a:t># ═══════════════════════════════════════════════════════════════════</a:t>
            </a:r>
            <a:br/>
            <a:r>
              <a:t>FROM node:18-alpine</a:t>
            </a:r>
            <a:br/>
            <a:r>
              <a:t>WORKDIR /app</a:t>
            </a:r>
            <a:br/>
            <a:br/>
            <a:r>
              <a:t># Step 1: Copy lockfile only (changes infrequently)</a:t>
            </a:r>
            <a:br/>
            <a:r>
              <a:t>COPY package*.json ./</a:t>
            </a:r>
            <a:br/>
            <a:r>
              <a:t>RUN npm ci --only=production &amp;&amp; npm cache clean --force</a:t>
            </a:r>
            <a:br/>
            <a:br/>
            <a:r>
              <a:t># Step 2: Copy source (changes frequently, but cheap)</a:t>
            </a:r>
            <a:br/>
            <a:r>
              <a:t>COPY src ./src</a:t>
            </a:r>
            <a:br/>
            <a:r>
              <a:t>COPY tsconfig.json ./</a:t>
            </a:r>
            <a:br/>
            <a:br/>
            <a:r>
              <a:t># Step 3: Build (only this layer rebuilds on code changes)</a:t>
            </a:r>
            <a:br/>
            <a:r>
              <a:t>RUN npm run build</a:t>
            </a:r>
            <a:br/>
            <a:br/>
            <a:r>
              <a:t>CMD ["node", "dist/server.js"]</a:t>
            </a:r>
            <a:br/>
            <a:br/>
            <a:r>
              <a:t># ═══════════════════════════════════════════════════════════════════</a:t>
            </a:r>
            <a:br/>
            <a:r>
              <a:t># RESULT: npm ci cached for weeks, only build step runs on code push</a:t>
            </a:r>
            <a:br/>
            <a:r>
              <a:t># ═══════════════════════════════════════════════════════════════════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 | PART 0A — PRODUCTION DOCKERFILE | Rajesh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</a:defRPr>
            </a:pPr>
            <a:r>
              <a:t>PART 0A — PRODUCTION DOCKERFILE | Rajesh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84048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Multi-Stage Builds — Language-Specific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29922"/>
                </a:solidFill>
              </a:defRPr>
            </a:pPr>
            <a:r>
              <a:t>Different languages require different multi-stage strategies: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D29922"/>
                </a:solidFill>
              </a:defRPr>
            </a:pPr>
            <a:r>
              <a:t>GO: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Compile to static binary in builder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Final image: scratch or distroless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Size: 100MB → 15MB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D29922"/>
                </a:solidFill>
              </a:defRPr>
            </a:pPr>
            <a:r>
              <a:t>JAVA/MAVEN: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Maven/Gradle in builder with cache mount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JRE-only in runtime (not JDK)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Size: 500MB → 150MB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D29922"/>
                </a:solidFill>
              </a:defRPr>
            </a:pPr>
            <a:r>
              <a:t>NODE.JS: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npm ci in builder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Only production dependencies in runtime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Consider: node:slim or distroless/nodejs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D29922"/>
                </a:solidFill>
              </a:defRPr>
            </a:pPr>
            <a:r>
              <a:t>PYTHON: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pip install --user in builder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Copy /root/.local to runtime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Size: 800MB → 200MB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 | PART 0A — PRODUCTION DOCKERFILE | Rajesh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</a:defRPr>
            </a:pPr>
            <a:r>
              <a:t>PART 0A — PRODUCTION DOCKERFILE | Rajesh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84048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8A6FF"/>
                </a:solidFill>
              </a:defRPr>
            </a:pPr>
            <a:r>
              <a:t>Go Multi-Stage — Production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60120"/>
            <a:ext cx="11612880" cy="5349240"/>
          </a:xfrm>
          <a:prstGeom prst="roundRect">
            <a:avLst/>
          </a:prstGeom>
          <a:solidFill>
            <a:srgbClr val="0D1117"/>
          </a:solidFill>
          <a:ln w="9525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900">
                <a:solidFill>
                  <a:srgbClr val="C9D1D9"/>
                </a:solidFill>
                <a:latin typeface="Courier New"/>
              </a:defRPr>
            </a:pPr>
            <a:r>
              <a:t># ═══════════════════════════════════════════════════════════════════</a:t>
            </a:r>
            <a:br/>
            <a:r>
              <a:t># GO: Compile to static binary, scratch/distroless runtime</a:t>
            </a:r>
            <a:br/>
            <a:r>
              <a:t># ═══════════════════════════════════════════════════════════════════</a:t>
            </a:r>
            <a:br/>
            <a:r>
              <a:t>FROM golang:1.21-alpine AS builder</a:t>
            </a:r>
            <a:br/>
            <a:br/>
            <a:r>
              <a:t>WORKDIR /build</a:t>
            </a:r>
            <a:br/>
            <a:br/>
            <a:r>
              <a:t># Install build deps</a:t>
            </a:r>
            <a:br/>
            <a:r>
              <a:t>RUN apk add --no-cache git ca-certificates tzdata</a:t>
            </a:r>
            <a:br/>
            <a:br/>
            <a:r>
              <a:t># Cache go modules separately</a:t>
            </a:r>
            <a:br/>
            <a:r>
              <a:t>COPY go.mod go.sum ./</a:t>
            </a:r>
            <a:br/>
            <a:r>
              <a:t>RUN go mod download</a:t>
            </a:r>
            <a:br/>
            <a:br/>
            <a:r>
              <a:t># Copy source and build</a:t>
            </a:r>
            <a:br/>
            <a:r>
              <a:t>COPY . .</a:t>
            </a:r>
            <a:br/>
            <a:r>
              <a:t>RUN CGO_ENABLED=0 GOOS=linux GOARCH=amd64 go build \</a:t>
            </a:r>
            <a:br/>
            <a:r>
              <a:t>    -ldflags='-w -s -extldflags "-static"' \</a:t>
            </a:r>
            <a:br/>
            <a:r>
              <a:t>    -o /app/server ./cmd/server</a:t>
            </a:r>
            <a:br/>
            <a:br/>
            <a:r>
              <a:t># ═══════════════════════════════════════════════════════════════════</a:t>
            </a:r>
            <a:br/>
            <a:r>
              <a:t># RUNTIME: Distroless (or scratch for absolute minimum)</a:t>
            </a:r>
            <a:br/>
            <a:r>
              <a:t># ═══════════════════════════════════════════════════════════════════</a:t>
            </a:r>
            <a:br/>
            <a:r>
              <a:t>FROM gcr.io/distroless/static:nonroot</a:t>
            </a:r>
            <a:br/>
            <a:br/>
            <a:r>
              <a:t># Copy timezone data and CA certs from builder</a:t>
            </a:r>
            <a:br/>
            <a:r>
              <a:t>COPY --from=builder /usr/share/zoneinfo /usr/share/zoneinfo</a:t>
            </a:r>
            <a:br/>
            <a:r>
              <a:t>COPY --from=builder /etc/ssl/certs/ca-certificates.crt /etc/ssl/certs/</a:t>
            </a:r>
            <a:br/>
            <a:br/>
            <a:r>
              <a:t># Copy compiled binary</a:t>
            </a:r>
            <a:br/>
            <a:r>
              <a:t>COPY --from=builder /app/server /server</a:t>
            </a:r>
            <a:br/>
            <a:br/>
            <a:r>
              <a:t># Non-root user (distroless provides 'nonroot' user)</a:t>
            </a:r>
            <a:br/>
            <a:r>
              <a:t>USER nonroot:nonroot</a:t>
            </a:r>
            <a:br/>
            <a:br/>
            <a:r>
              <a:t>EXPOSE 8080</a:t>
            </a:r>
            <a:br/>
            <a:r>
              <a:t>ENTRYPOINT ["/server"]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 | PART 0A — PRODUCTION DOCKERFILE | Rajesh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</a:defRPr>
            </a:pPr>
            <a:r>
              <a:t>PART 0A — PRODUCTION DOCKERFILE | Rajesh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84048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8A6FF"/>
                </a:solidFill>
              </a:defRPr>
            </a:pPr>
            <a:r>
              <a:t>Java/Maven Multi-Stage — With Build Cache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60120"/>
            <a:ext cx="11612880" cy="5349240"/>
          </a:xfrm>
          <a:prstGeom prst="roundRect">
            <a:avLst/>
          </a:prstGeom>
          <a:solidFill>
            <a:srgbClr val="0D1117"/>
          </a:solidFill>
          <a:ln w="9525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900">
                <a:solidFill>
                  <a:srgbClr val="C9D1D9"/>
                </a:solidFill>
                <a:latin typeface="Courier New"/>
              </a:defRPr>
            </a:pPr>
            <a:r>
              <a:t># ═══════════════════════════════════════════════════════════════════</a:t>
            </a:r>
            <a:br/>
            <a:r>
              <a:t># JAVA: Maven cache mount (BuildKit feature), JRE-only runtime</a:t>
            </a:r>
            <a:br/>
            <a:r>
              <a:t># ═══════════════════════════════════════════════════════════════════</a:t>
            </a:r>
            <a:br/>
            <a:r>
              <a:t># syntax=docker/dockerfile:1.4</a:t>
            </a:r>
            <a:br/>
            <a:r>
              <a:t>FROM maven:3.9-eclipse-temurin-17 AS builder</a:t>
            </a:r>
            <a:br/>
            <a:br/>
            <a:r>
              <a:t>WORKDIR /build</a:t>
            </a:r>
            <a:br/>
            <a:br/>
            <a:r>
              <a:t># Cache Maven dependencies (requires BuildKit)</a:t>
            </a:r>
            <a:br/>
            <a:r>
              <a:t>COPY pom.xml .</a:t>
            </a:r>
            <a:br/>
            <a:r>
              <a:t>RUN --mount=type=cache,target=/root/.m2 \</a:t>
            </a:r>
            <a:br/>
            <a:r>
              <a:t>    mvn dependency:go-offline -B</a:t>
            </a:r>
            <a:br/>
            <a:br/>
            <a:r>
              <a:t>COPY src ./src</a:t>
            </a:r>
            <a:br/>
            <a:r>
              <a:t>RUN --mount=type=cache,target=/root/.m2 \</a:t>
            </a:r>
            <a:br/>
            <a:r>
              <a:t>    mvn clean package -DskipTests -B</a:t>
            </a:r>
            <a:br/>
            <a:br/>
            <a:r>
              <a:t># ═══════════════════════════════════════════════════════════════════</a:t>
            </a:r>
            <a:br/>
            <a:r>
              <a:t># RUNTIME: JRE only, no compiler, minimal attack surface</a:t>
            </a:r>
            <a:br/>
            <a:r>
              <a:t># ═══════════════════════════════════════════════════════════════════</a:t>
            </a:r>
            <a:br/>
            <a:r>
              <a:t>FROM eclipse-temurin:17-jre-alpine</a:t>
            </a:r>
            <a:br/>
            <a:br/>
            <a:r>
              <a:t>RUN addgroup -S appgroup &amp;&amp; adduser -S appuser -G appgroup</a:t>
            </a:r>
            <a:br/>
            <a:br/>
            <a:r>
              <a:t>WORKDIR /app</a:t>
            </a:r>
            <a:br/>
            <a:br/>
            <a:r>
              <a:t># Copy ONLY the JAR (no source, no Maven)</a:t>
            </a:r>
            <a:br/>
            <a:r>
              <a:t>COPY --from=builder --chown=appuser:appgroup \</a:t>
            </a:r>
            <a:br/>
            <a:r>
              <a:t>    /build/target/*.jar app.jar</a:t>
            </a:r>
            <a:br/>
            <a:br/>
            <a:r>
              <a:t>USER appuser</a:t>
            </a:r>
            <a:br/>
            <a:br/>
            <a:r>
              <a:t>HEALTHCHECK --interval=30s CMD wget --no-verbose --tries=1 --spider \</a:t>
            </a:r>
            <a:br/>
            <a:r>
              <a:t>    http://localhost:8080/actuator/health || exit 1</a:t>
            </a:r>
            <a:br/>
            <a:br/>
            <a:r>
              <a:t>EXPOSE 8080</a:t>
            </a:r>
            <a:br/>
            <a:r>
              <a:t>ENTRYPOINT ["java", "-XX:+UseContainerSupport", "-jar", "app.jar"]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 | PART 0A — PRODUCTION DOCKERFILE | Rajesh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</a:defRPr>
            </a:pPr>
            <a:r>
              <a:t>PART 0A — PRODUCTION DOCKERFILE | Rajesh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84048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Distroless Images —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Distroless = Container with ONLY your application and its runtime.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D29922"/>
                </a:solidFill>
              </a:defRPr>
            </a:pPr>
            <a:r>
              <a:t>WHAT DISTROLESS REMOVES:</a:t>
            </a:r>
          </a:p>
          <a:p>
            <a:pPr>
              <a:spcAft>
                <a:spcPts val="200"/>
              </a:spcAft>
              <a:defRPr sz="1200">
                <a:solidFill>
                  <a:srgbClr val="F85149"/>
                </a:solidFill>
              </a:defRPr>
            </a:pPr>
            <a:r>
              <a:t>✗ Package manager (apt, apk, yum, dnf)</a:t>
            </a:r>
          </a:p>
          <a:p>
            <a:pPr>
              <a:spcAft>
                <a:spcPts val="200"/>
              </a:spcAft>
              <a:defRPr sz="1200">
                <a:solidFill>
                  <a:srgbClr val="F85149"/>
                </a:solidFill>
              </a:defRPr>
            </a:pPr>
            <a:r>
              <a:t>✗ Shell (/bin/sh, /bin/bash, /bin/ash)</a:t>
            </a:r>
          </a:p>
          <a:p>
            <a:pPr>
              <a:spcAft>
                <a:spcPts val="200"/>
              </a:spcAft>
              <a:defRPr sz="1200">
                <a:solidFill>
                  <a:srgbClr val="F85149"/>
                </a:solidFill>
              </a:defRPr>
            </a:pPr>
            <a:r>
              <a:t>✗ Common utilities (curl, wget, vim, nano)</a:t>
            </a:r>
          </a:p>
          <a:p>
            <a:pPr>
              <a:spcAft>
                <a:spcPts val="200"/>
              </a:spcAft>
              <a:defRPr sz="1200">
                <a:solidFill>
                  <a:srgbClr val="F85149"/>
                </a:solidFill>
              </a:defRPr>
            </a:pPr>
            <a:r>
              <a:t>✗ Documentation and man pages</a:t>
            </a:r>
          </a:p>
          <a:p>
            <a:pPr>
              <a:spcAft>
                <a:spcPts val="200"/>
              </a:spcAft>
              <a:defRPr sz="1200">
                <a:solidFill>
                  <a:srgbClr val="F85149"/>
                </a:solidFill>
              </a:defRPr>
            </a:pPr>
            <a:r>
              <a:t>✗ Unnecessary libraries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D29922"/>
                </a:solidFill>
              </a:defRPr>
            </a:pPr>
            <a:r>
              <a:t>WHAT DISTROLESS KEEPS:</a:t>
            </a:r>
          </a:p>
          <a:p>
            <a:pPr>
              <a:spcAft>
                <a:spcPts val="200"/>
              </a:spcAft>
              <a:defRPr sz="1200">
                <a:solidFill>
                  <a:srgbClr val="3FB950"/>
                </a:solidFill>
              </a:defRPr>
            </a:pPr>
            <a:r>
              <a:t>✓ Your application binary/JAR</a:t>
            </a:r>
          </a:p>
          <a:p>
            <a:pPr>
              <a:spcAft>
                <a:spcPts val="200"/>
              </a:spcAft>
              <a:defRPr sz="1200">
                <a:solidFill>
                  <a:srgbClr val="3FB950"/>
                </a:solidFill>
              </a:defRPr>
            </a:pPr>
            <a:r>
              <a:t>✓ Language runtime (glibc, Python, Node, JRE)</a:t>
            </a:r>
          </a:p>
          <a:p>
            <a:pPr>
              <a:spcAft>
                <a:spcPts val="200"/>
              </a:spcAft>
              <a:defRPr sz="1200">
                <a:solidFill>
                  <a:srgbClr val="3FB950"/>
                </a:solidFill>
              </a:defRPr>
            </a:pPr>
            <a:r>
              <a:t>✓ CA certificates (for HTTPS)</a:t>
            </a:r>
          </a:p>
          <a:p>
            <a:pPr>
              <a:spcAft>
                <a:spcPts val="200"/>
              </a:spcAft>
              <a:defRPr sz="1200">
                <a:solidFill>
                  <a:srgbClr val="3FB950"/>
                </a:solidFill>
              </a:defRPr>
            </a:pPr>
            <a:r>
              <a:t>✓ Timezone data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RESULT: Attack surface reduced by 90%+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 | PART 0A — PRODUCTION DOCKERFILE | Rajesh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</a:defRPr>
            </a:pPr>
            <a:r>
              <a:t>PART 0A — PRODUCTION DOCKERFILE | Rajesh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84048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8A6FF"/>
                </a:solidFill>
              </a:defRPr>
            </a:pPr>
            <a:r>
              <a:t>Distroless vs Standard Images — Size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6128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8686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A37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Standard Image</a:t>
                      </a:r>
                    </a:p>
                  </a:txBody>
                  <a:tcPr>
                    <a:solidFill>
                      <a:srgbClr val="A37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Distroless</a:t>
                      </a:r>
                    </a:p>
                  </a:txBody>
                  <a:tcPr>
                    <a:solidFill>
                      <a:srgbClr val="A37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Reduction</a:t>
                      </a:r>
                    </a:p>
                  </a:txBody>
                  <a:tcPr>
                    <a:solidFill>
                      <a:srgbClr val="A371F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Go (static binary)</a:t>
                      </a:r>
                    </a:p>
                  </a:txBody>
                  <a:tcPr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golang:1.21 (1.2GB)</a:t>
                      </a:r>
                    </a:p>
                  </a:txBody>
                  <a:tcPr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distroless/static (15MB)</a:t>
                      </a:r>
                    </a:p>
                  </a:txBody>
                  <a:tcPr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98.7%</a:t>
                      </a:r>
                    </a:p>
                  </a:txBody>
                  <a:tcPr>
                    <a:solidFill>
                      <a:srgbClr val="12161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python:3.11 (1GB)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distroless/python3 (80MB)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Java</a:t>
                      </a:r>
                    </a:p>
                  </a:txBody>
                  <a:tcPr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eclipse-temurin:17 (350MB)</a:t>
                      </a:r>
                    </a:p>
                  </a:txBody>
                  <a:tcPr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distroless/java17 (180MB)</a:t>
                      </a:r>
                    </a:p>
                  </a:txBody>
                  <a:tcPr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12161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Node.js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node:18 (1GB)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distroless/nodejs18 (120MB)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.NET</a:t>
                      </a:r>
                    </a:p>
                  </a:txBody>
                  <a:tcPr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mcr.microsoft.com/dotnet/aspnet (200MB)</a:t>
                      </a:r>
                    </a:p>
                  </a:txBody>
                  <a:tcPr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distroless/dotnet (90MB)</a:t>
                      </a:r>
                    </a:p>
                  </a:txBody>
                  <a:tcPr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12161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 | PART 0A — PRODUCTION DOCKERFILE | Rajesh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</a:defRPr>
            </a:pPr>
            <a:r>
              <a:t>PART 0A — PRODUCTION DOCKERFILE | Rajesh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84048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8A6FF"/>
                </a:solidFill>
              </a:defRPr>
            </a:pPr>
            <a:r>
              <a:t>Distroless — Debugging Without a Shell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60120"/>
            <a:ext cx="11612880" cy="5349240"/>
          </a:xfrm>
          <a:prstGeom prst="roundRect">
            <a:avLst/>
          </a:prstGeom>
          <a:solidFill>
            <a:srgbClr val="0D1117"/>
          </a:solidFill>
          <a:ln w="9525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900">
                <a:solidFill>
                  <a:srgbClr val="C9D1D9"/>
                </a:solidFill>
                <a:latin typeface="Courier New"/>
              </a:defRPr>
            </a:pPr>
            <a:r>
              <a:t># ═══════════════════════════════════════════════════════════════════</a:t>
            </a:r>
            <a:br/>
            <a:r>
              <a:t># PROBLEM: Distroless has no shell. How do you debug?</a:t>
            </a:r>
            <a:br/>
            <a:r>
              <a:t># ═══════════════════════════════════════════════════════════════════</a:t>
            </a:r>
            <a:br/>
            <a:br/>
            <a:r>
              <a:t># METHOD 1: Debug sidecar (recommended)</a:t>
            </a:r>
            <a:br/>
            <a:r>
              <a:t># Run debug container sharing the same PID/network namespace</a:t>
            </a:r>
            <a:br/>
            <a:r>
              <a:t>docker run --rm -it \</a:t>
            </a:r>
            <a:br/>
            <a:r>
              <a:t>  --pid=container:&lt;distroless-container&gt; \</a:t>
            </a:r>
            <a:br/>
            <a:r>
              <a:t>  --network=container:&lt;distroless-container&gt; \</a:t>
            </a:r>
            <a:br/>
            <a:r>
              <a:t>  --cap-add=SYS_PTRACE \</a:t>
            </a:r>
            <a:br/>
            <a:r>
              <a:t>  nicolaka/netshoot</a:t>
            </a:r>
            <a:br/>
            <a:br/>
            <a:r>
              <a:t># Now you have: curl, wget, tcpdump, strace, htop, etc.</a:t>
            </a:r>
            <a:br/>
            <a:br/>
            <a:br/>
            <a:r>
              <a:t># METHOD 2: Copy debug tools at runtime (NOT recommended for prod)</a:t>
            </a:r>
            <a:br/>
            <a:r>
              <a:t>docker run -it --entrypoint sh gcr.io/distroless/python3-debian11</a:t>
            </a:r>
            <a:br/>
            <a:r>
              <a:t># This works because you're overriding the entrypoint</a:t>
            </a:r>
            <a:br/>
            <a:br/>
            <a:br/>
            <a:r>
              <a:t># METHOD 3: Use distroless/debug image during development</a:t>
            </a:r>
            <a:br/>
            <a:r>
              <a:t>FROM gcr.io/distroless/debug:nonroot</a:t>
            </a:r>
            <a:br/>
            <a:r>
              <a:t># Includes: busybox, ldd, strace, objdump</a:t>
            </a:r>
            <a:br/>
            <a:r>
              <a:t># REMOVE before production deployment!</a:t>
            </a:r>
            <a:br/>
            <a:br/>
            <a:br/>
            <a:r>
              <a:t># METHOD 4: Application-level debugging</a:t>
            </a:r>
            <a:br/>
            <a:r>
              <a:t># Build health/metrics endpoints into your app</a:t>
            </a:r>
            <a:br/>
            <a:r>
              <a:t># /health, /metrics, /debug/pprof (Go), /actuator (Spring)</a:t>
            </a:r>
            <a:br/>
            <a:r>
              <a:t>    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 | PART 0A — PRODUCTION DOCKERFILE | Rajesh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</a:defRPr>
            </a:pPr>
            <a:r>
              <a:t>PART 0A — PRODUCTION DOCKERFILE | Rajesh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84048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Production Dockerfile — Size Optimization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3FB950"/>
                </a:solidFill>
              </a:defRPr>
            </a:pPr>
            <a:r>
              <a:t>✓ Use multi-stage builds (always for compiled languages)</a:t>
            </a:r>
          </a:p>
          <a:p>
            <a:pPr>
              <a:spcAft>
                <a:spcPts val="200"/>
              </a:spcAft>
              <a:defRPr sz="1200">
                <a:solidFill>
                  <a:srgbClr val="3FB950"/>
                </a:solidFill>
              </a:defRPr>
            </a:pPr>
            <a:r>
              <a:t>✓ Choose minimal base images (alpine, slim, distroless)</a:t>
            </a:r>
          </a:p>
          <a:p>
            <a:pPr>
              <a:spcAft>
                <a:spcPts val="200"/>
              </a:spcAft>
              <a:defRPr sz="1200">
                <a:solidFill>
                  <a:srgbClr val="3FB950"/>
                </a:solidFill>
              </a:defRPr>
            </a:pPr>
            <a:r>
              <a:t>✓ Combine RUN commands to reduce layers</a:t>
            </a:r>
          </a:p>
          <a:p>
            <a:pPr>
              <a:spcAft>
                <a:spcPts val="200"/>
              </a:spcAft>
              <a:defRPr sz="1200">
                <a:solidFill>
                  <a:srgbClr val="3FB950"/>
                </a:solidFill>
              </a:defRPr>
            </a:pPr>
            <a:r>
              <a:t>✓ Clean package caches in the same layer: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RUN apt-get update &amp;&amp; apt-get install -y pkg &amp;&amp; rm -rf /var/lib/apt/lists/*</a:t>
            </a:r>
          </a:p>
          <a:p>
            <a:pPr>
              <a:spcAft>
                <a:spcPts val="200"/>
              </a:spcAft>
              <a:defRPr sz="1200">
                <a:solidFill>
                  <a:srgbClr val="3FB950"/>
                </a:solidFill>
              </a:defRPr>
            </a:pPr>
            <a:r>
              <a:t>✓ Use .dockerignore aggressively</a:t>
            </a:r>
          </a:p>
          <a:p>
            <a:pPr>
              <a:spcAft>
                <a:spcPts val="200"/>
              </a:spcAft>
              <a:defRPr sz="1200">
                <a:solidFill>
                  <a:srgbClr val="3FB950"/>
                </a:solidFill>
              </a:defRPr>
            </a:pPr>
            <a:r>
              <a:t>✓ Copy only what's needed (not COPY . .)</a:t>
            </a:r>
          </a:p>
          <a:p>
            <a:pPr>
              <a:spcAft>
                <a:spcPts val="200"/>
              </a:spcAft>
              <a:defRPr sz="1200">
                <a:solidFill>
                  <a:srgbClr val="3FB950"/>
                </a:solidFill>
              </a:defRPr>
            </a:pPr>
            <a:r>
              <a:t>✓ Use cache mounts for package managers (BuildKit)</a:t>
            </a:r>
          </a:p>
          <a:p>
            <a:pPr>
              <a:spcAft>
                <a:spcPts val="200"/>
              </a:spcAft>
              <a:defRPr sz="1200">
                <a:solidFill>
                  <a:srgbClr val="3FB950"/>
                </a:solidFill>
              </a:defRPr>
            </a:pPr>
            <a:r>
              <a:t>✓ Remove unnecessary files before COPY --from</a:t>
            </a:r>
          </a:p>
          <a:p>
            <a:pPr>
              <a:spcAft>
                <a:spcPts val="200"/>
              </a:spcAft>
              <a:defRPr sz="1200">
                <a:solidFill>
                  <a:srgbClr val="3FB950"/>
                </a:solidFill>
              </a:defRPr>
            </a:pPr>
            <a:r>
              <a:t>✓ Use specific tags, not :latest (reproducible builds)</a:t>
            </a:r>
          </a:p>
          <a:p>
            <a:pPr>
              <a:spcAft>
                <a:spcPts val="200"/>
              </a:spcAft>
              <a:defRPr sz="1200">
                <a:solidFill>
                  <a:srgbClr val="3FB950"/>
                </a:solidFill>
              </a:defRPr>
            </a:pPr>
            <a:r>
              <a:t>✓ Consider UPX compression for Go binaries</a:t>
            </a:r>
          </a:p>
          <a:p>
            <a:pPr>
              <a:spcAft>
                <a:spcPts val="200"/>
              </a:spcAft>
              <a:defRPr sz="1200">
                <a:solidFill>
                  <a:srgbClr val="3FB950"/>
                </a:solidFill>
              </a:defRPr>
            </a:pPr>
            <a:r>
              <a:t>✓ Use dive tool to analyze layer sizes: github.com/wagoodman/dive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 | PART 0A — PRODUCTION DOCKERFILE | Rajesh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</a:defRPr>
            </a:pPr>
            <a:r>
              <a:t>PART 0A — PRODUCTION DOCKERFILE | Rajesh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84048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dive — Docker Image 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dive is the standard tool for analyzing Docker image layers.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D29922"/>
                </a:solidFill>
              </a:defRPr>
            </a:pPr>
            <a:r>
              <a:t>INSTALLATION:</a:t>
            </a:r>
          </a:p>
          <a:p>
            <a:pPr>
              <a:spcAft>
                <a:spcPts val="200"/>
              </a:spcAft>
              <a:defRPr sz="900">
                <a:solidFill>
                  <a:srgbClr val="8B949E"/>
                </a:solidFill>
                <a:latin typeface="Courier New"/>
              </a:defRPr>
            </a:pPr>
            <a:r>
              <a:t># macOS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brew install dive</a:t>
            </a:r>
          </a:p>
          <a:p>
            <a:pPr>
              <a:spcAft>
                <a:spcPts val="200"/>
              </a:spcAft>
              <a:defRPr sz="900">
                <a:solidFill>
                  <a:srgbClr val="8B949E"/>
                </a:solidFill>
                <a:latin typeface="Courier New"/>
              </a:defRPr>
            </a:pPr>
            <a:r>
              <a:t># Linux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wget https://github.com/wagoodman/dive/releases/download/v0.12.0/dive_0.12.0_linux_amd64.tar.gz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D29922"/>
                </a:solidFill>
              </a:defRPr>
            </a:pPr>
            <a:r>
              <a:t>USAGE: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dive myimage:latest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D29922"/>
                </a:solidFill>
              </a:defRPr>
            </a:pPr>
            <a:r>
              <a:t>FEATURES: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Layer-by-layer file browser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Shows which files are in which layer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Identifies wasted space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CI integration for size limits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D29922"/>
                </a:solidFill>
              </a:defRPr>
            </a:pPr>
            <a:r>
              <a:t>PRODUCTION WORKFLOW: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Run dive before every production image push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Set CI gate: fail if image &gt; X MB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 | PART 0A — PRODUCTION DOCKERFILE | Rajesh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D29922"/>
                </a:solidFill>
              </a:defRPr>
            </a:pPr>
            <a:r>
              <a:t>PART 0B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DOCKER BEST PRACTICES —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</a:defRPr>
            </a:pPr>
            <a:r>
              <a:t>PART 0B — BEST PRACTICES | Rajesh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84048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Docker Best Practices — The Production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These are the patterns used by production engineering teams at scale.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CATEGORY 1: IMAGE BUILDING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Multi-stage, minimal base, layer ordering, .dockerignore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CATEGORY 2: RUNTIME SECURITY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Non-root, capabilities, read-only, seccomp, AppArmor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CATEGORY 3: RESOURCE MANAGEMENT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Memory limits, CPU limits, PID limits, OOM behavior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CATEGORY 4: OBSERVABILITY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Healthchecks, structured logging, metrics endpoints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CATEGORY 5: DEPLOYMENT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Immutable tags, digest pinning, rolling updates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CATEGORY 6: SECRETS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Never in env vars, never in image, external secret stores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 | PART 0B — BEST PRACTICES | Rajesh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</a:defRPr>
            </a:pPr>
            <a:r>
              <a:t>PART 0B — BEST PRACTICES | Rajesh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84048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8A6FF"/>
                </a:solidFill>
              </a:defRPr>
            </a:pPr>
            <a:r>
              <a:t>Docker Best Practices — Quick Reference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6128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473825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A37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Do</a:t>
                      </a:r>
                    </a:p>
                  </a:txBody>
                  <a:tcPr>
                    <a:solidFill>
                      <a:srgbClr val="A37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Don't</a:t>
                      </a:r>
                    </a:p>
                  </a:txBody>
                  <a:tcPr>
                    <a:solidFill>
                      <a:srgbClr val="A371F7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Base Image</a:t>
                      </a:r>
                    </a:p>
                  </a:txBody>
                  <a:tcPr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Use :specific-tag or @digest</a:t>
                      </a:r>
                    </a:p>
                  </a:txBody>
                  <a:tcPr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Never use :latest in production</a:t>
                      </a:r>
                    </a:p>
                  </a:txBody>
                  <a:tcPr>
                    <a:solidFill>
                      <a:srgbClr val="12161D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User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Always run as non-root (USER 1000)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Never run as root in prod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Capabilities</a:t>
                      </a:r>
                    </a:p>
                  </a:txBody>
                  <a:tcPr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--cap-drop=ALL, add minimal</a:t>
                      </a:r>
                    </a:p>
                  </a:txBody>
                  <a:tcPr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Never use --privileged</a:t>
                      </a:r>
                    </a:p>
                  </a:txBody>
                  <a:tcPr>
                    <a:solidFill>
                      <a:srgbClr val="12161D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Filesystem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--read-only + tmpfs for /tmp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Never writable root FS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Resources</a:t>
                      </a:r>
                    </a:p>
                  </a:txBody>
                  <a:tcPr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Set --memory, --cpus, --pids-limit</a:t>
                      </a:r>
                    </a:p>
                  </a:txBody>
                  <a:tcPr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Never unlimited resources</a:t>
                      </a:r>
                    </a:p>
                  </a:txBody>
                  <a:tcPr>
                    <a:solidFill>
                      <a:srgbClr val="12161D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Secrets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External managers (Vault, KMS)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Never ENV PASSWORD=xxx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Tags</a:t>
                      </a:r>
                    </a:p>
                  </a:txBody>
                  <a:tcPr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Immutable: v1.2.3 + git SHA</a:t>
                      </a:r>
                    </a:p>
                  </a:txBody>
                  <a:tcPr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Never push over 'latest'</a:t>
                      </a:r>
                    </a:p>
                  </a:txBody>
                  <a:tcPr>
                    <a:solidFill>
                      <a:srgbClr val="12161D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Healthchecks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Always define HEALTHCHECK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Never rely on process running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.dockerignore</a:t>
                      </a:r>
                    </a:p>
                  </a:txBody>
                  <a:tcPr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Exclude everything unnecessary</a:t>
                      </a:r>
                    </a:p>
                  </a:txBody>
                  <a:tcPr>
                    <a:solidFill>
                      <a:srgbClr val="1216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Never COPY . . without it</a:t>
                      </a:r>
                    </a:p>
                  </a:txBody>
                  <a:tcPr>
                    <a:solidFill>
                      <a:srgbClr val="12161D"/>
                    </a:solidFill>
                  </a:tcPr>
                </a:tc>
              </a:tr>
              <a:tr h="47383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Signal handling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Exec form + tini/dumb-init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Never shell form for PID 1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 | PART 0B — BEST PRACTICES | Rajesh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</a:defRPr>
            </a:pPr>
            <a:r>
              <a:t>PART 0B — BEST PRACTICES | Rajesh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84048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The 12-Factor App — Docker Edition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29922"/>
                </a:solidFill>
              </a:defRPr>
            </a:pPr>
            <a:r>
              <a:t>12-Factor principles adapted for containerized applications: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I.   Codebase → One repo, many deploys (immutable images)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II.  Dependencies → Explicit, isolated (Dockerfile)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III. Config → Environment variables (12-factor) or secrets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IV.  Backing Services → Treat as attached resources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V.   Build, Release, Run → Separate stages (CI/CD pipeline)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VI.  Processes → Stateless, share-nothing (horizontal scale)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VII. Port Binding → Export via $PORT, not hardcoded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VIII. Concurrency → Scale out via process model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IX.  Disposability → Fast startup, graceful shutdown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X.   Dev/Prod Parity → Same image, different config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XI.  Logs → stdout/stderr (let platform handle)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XII. Admin Processes → One-off tasks as containers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 | PART 0B — BEST PRACTICES | Rajesh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</a:defRPr>
            </a:pPr>
            <a:r>
              <a:t>PART 0B — BEST PRACTICES | Rajesh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84048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Production Anti-Patterns — What NOT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F85149"/>
                </a:solidFill>
              </a:defRPr>
            </a:pPr>
            <a:r>
              <a:t>✗ RUN apt-get update &amp;&amp; apt-get install -y pkg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Stale package lists, potential security issues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FIX: Combine with rm -rf /var/lib/apt/lists/*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F85149"/>
                </a:solidFill>
              </a:defRPr>
            </a:pPr>
            <a:r>
              <a:t>✗ FROM ubuntu:latest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Unpredictable, unreproducible builds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FIX: FROM ubuntu:22.04 or @sha256:digest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F85149"/>
                </a:solidFill>
              </a:defRPr>
            </a:pPr>
            <a:r>
              <a:t>✗ ENV DATABASE_PASSWORD=supersecret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Visible in docker inspect, process list, logs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FIX: Use Docker secrets or external secret manager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F85149"/>
                </a:solidFill>
              </a:defRPr>
            </a:pPr>
            <a:r>
              <a:t>✗ docker run --privileged myapp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Container can compromise host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FIX: Use specific capabilities or rootless Docker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F85149"/>
                </a:solidFill>
              </a:defRPr>
            </a:pPr>
            <a:r>
              <a:t>✗ COPY . .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Copies .git, node_modules, secrets, everything</a:t>
            </a:r>
          </a:p>
          <a:p>
            <a:pPr>
              <a:spcAft>
                <a:spcPts val="200"/>
              </a:spcAft>
              <a:defRPr sz="1100">
                <a:solidFill>
                  <a:srgbClr val="3FB950"/>
                </a:solidFill>
              </a:defRPr>
            </a:pPr>
            <a:r>
              <a:t>  → FIX: .dockerignore + explicit COPY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 | PART 0B — BEST PRACTICES | Rajesh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D29922"/>
                </a:solidFill>
              </a:defRPr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WHAT IS DOCKER?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</a:defRPr>
            </a:pPr>
            <a:r>
              <a:t>PART 1 — WHAT IS DOCKER? | Rajesh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84048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What is Docker?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29922"/>
                </a:solidFill>
              </a:defRPr>
            </a:pPr>
            <a:r>
              <a:t>Docker is a platform that enables developers to: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1. PACKAGE applications with all dependencies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2. DISTRIBUTE consistently across environments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3. RUN isolated processes sharing the host kernel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4. MANAGE the full application lifecycle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KEY INSIGHT: Docker automates OS-level virtualization.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Docker is NOT a virtual machine — it leverages Linux kernel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features (namespaces, cgroups) to isolate processes.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Author: Rajesh | Production-focused Docker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 | PART 1 — WHAT IS DOCKER? | Rajesh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D29922"/>
                </a:solidFill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DOCKER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</a:defRPr>
            </a:pPr>
            <a:r>
              <a:t>PART 2 — DOCKER ARCHITECTURE | Rajesh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84048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8A6FF"/>
                </a:solidFill>
              </a:defRPr>
            </a:pPr>
            <a:r>
              <a:t>Docker Architecture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60120"/>
            <a:ext cx="11612880" cy="5349240"/>
          </a:xfrm>
          <a:prstGeom prst="roundRect">
            <a:avLst/>
          </a:prstGeom>
          <a:solidFill>
            <a:srgbClr val="0D1117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900">
                <a:solidFill>
                  <a:srgbClr val="3FB950"/>
                </a:solidFill>
                <a:latin typeface="Courier New"/>
              </a:defRPr>
            </a:pPr>
            <a:br/>
            <a:r>
              <a:t>                    DOCKER ARCHITECTURE (Author: Rajesh)</a:t>
            </a:r>
            <a:br/>
            <a:br/>
            <a:r>
              <a:t>    DEVELOPER</a:t>
            </a:r>
            <a:br/>
            <a:r>
              <a:t>        │</a:t>
            </a:r>
            <a:br/>
            <a:r>
              <a:t>        ▼</a:t>
            </a:r>
            <a:br/>
            <a:r>
              <a:t>    ┌─────────┐</a:t>
            </a:r>
            <a:br/>
            <a:r>
              <a:t>    │Docker   │  ← CLI (Client)</a:t>
            </a:r>
            <a:br/>
            <a:r>
              <a:t>    │CLI      │</a:t>
            </a:r>
            <a:br/>
            <a:r>
              <a:t>    └────┬────┘</a:t>
            </a:r>
            <a:br/>
            <a:r>
              <a:t>         │  REST API</a:t>
            </a:r>
            <a:br/>
            <a:r>
              <a:t>         ▼</a:t>
            </a:r>
            <a:br/>
            <a:r>
              <a:t>    ┌─────────┐    ┌──────────┐</a:t>
            </a:r>
            <a:br/>
            <a:r>
              <a:t>    │ dockerd │───→│containerd│</a:t>
            </a:r>
            <a:br/>
            <a:r>
              <a:t>    │(Daemon) │    │          │</a:t>
            </a:r>
            <a:br/>
            <a:r>
              <a:t>    └────┬────┘    └────┬─────┘</a:t>
            </a:r>
            <a:br/>
            <a:r>
              <a:t>         │              │</a:t>
            </a:r>
            <a:br/>
            <a:r>
              <a:t>         │              ▼</a:t>
            </a:r>
            <a:br/>
            <a:r>
              <a:t>         │         ┌─────────┐</a:t>
            </a:r>
            <a:br/>
            <a:r>
              <a:t>         │         │  runc   │  ← OCI Runtime</a:t>
            </a:r>
            <a:br/>
            <a:r>
              <a:t>         │         └────┬────┘</a:t>
            </a:r>
            <a:br/>
            <a:r>
              <a:t>         │              │</a:t>
            </a:r>
            <a:br/>
            <a:r>
              <a:t>         │              ▼</a:t>
            </a:r>
            <a:br/>
            <a:r>
              <a:t>         │         ┌─────────┐</a:t>
            </a:r>
            <a:br/>
            <a:r>
              <a:t>         │         │  Linux  │</a:t>
            </a:r>
            <a:br/>
            <a:r>
              <a:t>         │         │  Kernel │</a:t>
            </a:r>
            <a:br/>
            <a:r>
              <a:t>         │         └─────────┘</a:t>
            </a:r>
            <a:br/>
            <a:r>
              <a:t>         │              │</a:t>
            </a:r>
            <a:br/>
            <a:r>
              <a:t>         └──────────────┘</a:t>
            </a:r>
            <a:br/>
            <a:r>
              <a:t>    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 | PART 2 — DOCKER ARCHITECTURE | Rajesh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D29922"/>
                </a:solidFill>
              </a:defRPr>
            </a:pPr>
            <a:r>
              <a:t>PART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INTERVIEW MASTERY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</a:defRPr>
            </a:pPr>
            <a:r>
              <a:t>PART 53 — INTERVIEW | Rajesh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84048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Interview Questions — Production Dockerfile (Sample)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A371F7"/>
                </a:solidFill>
              </a:defRPr>
            </a:pPr>
            <a:r>
              <a:t>Q: How do you optimize Dockerfile for production?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A: Multi-stage builds, minimal base images (distroless/alpine),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layer ordering for cache, .dockerignore, non-root user,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combine RUN commands, clean caches in same layer.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A371F7"/>
                </a:solidFill>
              </a:defRPr>
            </a:pPr>
            <a:r>
              <a:t>Q: Why does layer ordering matter?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A: Docker caches layers. If a layer changes, all subsequent layers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invalidate. Put stable instructions (dependencies) first,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volatile instructions (code) last for optimal cache hits.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A371F7"/>
                </a:solidFill>
              </a:defRPr>
            </a:pPr>
            <a:r>
              <a:t>Q: What's the difference between CMD and ENTRYPOINT?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A: CMD provides default arguments (easily overridden).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ENTRYPOINT sets the executable (harder to override).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Production pattern: ENTRYPOINT for app binary, CMD for defaults.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A371F7"/>
                </a:solidFill>
              </a:defRPr>
            </a:pPr>
            <a:r>
              <a:t>Q: How do you handle secrets in Dockerfiles?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</a:defRPr>
            </a:pPr>
            <a:r>
              <a:t>A: Never use ENV or ARG for secrets. Use BuildKit --mount=type=secret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for build-time, Docker secrets/Kubernetes secrets/external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managers (Vault) for runtime. Secrets must never be in image layers.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 | PART 53 — INTERVIEW | Rajesh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D29922"/>
                </a:solidFill>
              </a:defRPr>
            </a:pPr>
            <a:r>
              <a:t>PART 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FINAL MASTERY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0312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58A6FF"/>
                </a:solidFill>
              </a:defRPr>
            </a:pPr>
            <a:r>
              <a:t>DOCKER MASTERY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C9D1D9"/>
                </a:solidFill>
              </a:defRPr>
            </a:pPr>
            <a:r>
              <a:t>Author: Rajesh</a:t>
            </a:r>
            <a:br/>
            <a:br/>
            <a:r>
              <a:t>You now have production-grade Docker knowledge.</a:t>
            </a:r>
            <a:br/>
            <a:r>
              <a:t>Complete the labs. Master the interview questions.</a:t>
            </a:r>
            <a:br/>
            <a:r>
              <a:t>Build secure, optimized, observable container systems.</a:t>
            </a:r>
            <a:br/>
            <a:br/>
            <a:r>
              <a:t>© Rajesh | All Rights Reserved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© Rajesh | DOCKER: ZERO TO PROFESSIONAL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